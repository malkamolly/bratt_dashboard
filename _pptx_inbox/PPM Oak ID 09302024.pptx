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9" r:id="rId5"/>
    <p:sldId id="262" r:id="rId6"/>
    <p:sldId id="263" r:id="rId7"/>
    <p:sldId id="258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8"/>
    <p:restoredTop sz="94635"/>
  </p:normalViewPr>
  <p:slideViewPr>
    <p:cSldViewPr snapToGrid="0">
      <p:cViewPr varScale="1">
        <p:scale>
          <a:sx n="63" d="100"/>
          <a:sy n="63" d="100"/>
        </p:scale>
        <p:origin x="192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24A4-C8E2-CFC4-8363-7160D1C53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4B85D-64E4-7DEC-995F-5A00CCA5E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DC964-2BBF-B98E-4180-51053C19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F1F6E-42E5-4739-522A-BCBD1D67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D63C-4021-5740-3113-8181B8FC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1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CA69A-FFAF-FF2C-D13E-8CF0B884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987B-C833-9039-1BD0-417AED495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FF317-2F05-6F89-D1E4-DD6C9003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1A271-F224-F2BA-4B24-3CF6E0D8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593F-EBA0-AB93-CA81-D52ECBF0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8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61E6-4A35-0F18-F211-F0B224B26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1E9CF-40E3-C033-17E6-5E877CDFB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A515-43F6-3454-EDD3-763D1A7E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145F1-1937-BF0E-3D0C-7492FB7C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5AEB-9180-9206-9FD8-B707228A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8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31DB-19DF-E3E6-C1CF-5AAEB476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EF452-3499-CB0D-2D42-9E0439932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7270F-D25F-CB6B-DFE0-0B6DB101F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648D9-DA35-7A84-7EAA-CD7CE104E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8E48E-F32A-A74E-D974-1FDF4AC1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F7FCD-63A7-0B82-0A3D-9AAB9164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2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39AD-DC97-30B8-5297-CB859619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F9BC3-6686-95B2-2D49-14F5EC68C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78A83-895C-65CC-1B40-760CE383C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C5B8A-EFA6-C2D6-532F-E1B8D9FDC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B9403-3F4A-D0CC-3F9D-22E65AFDC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0DB4E-3EB9-3F98-B738-65E2E00A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C406B3-CBFC-9185-E06D-21377CAE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E2174-3FFC-A6D8-7D98-1B95E4C3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8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628E-0A52-E8C9-5BE3-28DD5380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3F200-B81E-665F-B4C9-924B4CE2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C54CF-BB8B-B6CD-1EBE-278E1F71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065B9-DEC6-5125-79D4-9801B207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5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2DB38-F647-AE70-AB46-E2F61FE7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0651D-93E2-6E32-30CC-3F8863881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0B78E-7493-5D54-C03C-E1E10851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0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380A-0E4B-FB48-EDC5-30C7E9AB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CAC83-E527-2545-8A8C-54558E84D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B62C2-945F-81A6-D290-E5294FCA1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3D986-27E0-BB6F-FD05-4AA2FAB9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3801E-8B4D-9A60-B0D2-5066CE2C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60457-E800-8220-1057-8A9176F6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DA10-7CEC-50FA-D507-4FD1690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865F4-C0B9-DCF7-C522-F7C223151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42D94-6ECA-1946-106E-B32E43060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E57D1-A0A4-E5F6-1D8E-4695E4F7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E4A81-FC0D-AE71-7A06-91A41C6F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4C174-2103-0975-945A-60A329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8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61FC-66D7-18C7-14D9-21D61EF2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F6E55-B0AF-7E5B-0D31-4A333629E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B3487-B605-9998-D89D-0559A58E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B1A1C-6196-5DDC-747B-B14EE8E9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B7824-9A9F-AB0D-EC61-96A7EFF7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2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B7EDE-2418-01B3-27EE-CE3A0CED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E320A-8E3A-2CCA-EDD7-FB179CA73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E0418-7D37-EA37-A928-44020E56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10098-6BA6-4034-F274-684AA256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59267-2FC1-01D7-69A4-B1742C91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51D2A-6244-A17D-4AE2-7183807DD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D936A-C9CB-3249-12F3-4310D5581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31059-F9A4-3864-811B-EBE9C8C80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3D0EB-5068-954C-88FA-216604D15DED}" type="datetimeFigureOut">
              <a:rPr lang="en-US" smtClean="0"/>
              <a:t>9/29/24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BE7D6-B305-2775-FB9D-40D750387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B03D-FA84-ED2C-E514-0F01C10CF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56C62-0793-5948-9834-8432E8A4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4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rm's-eye view of a large tree">
            <a:extLst>
              <a:ext uri="{FF2B5EF4-FFF2-40B4-BE49-F238E27FC236}">
                <a16:creationId xmlns:a16="http://schemas.microsoft.com/office/drawing/2014/main" id="{564C1F50-005D-A3C3-9060-DCE6136A58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727" b="300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C6F156-659C-E60D-2254-BD44DA878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Native Oaks of Minnesota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E48A4-D0C8-4156-B799-5E5AACBD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PPM 09/30/2024</a:t>
            </a:r>
          </a:p>
          <a:p>
            <a:r>
              <a:rPr lang="en-US">
                <a:solidFill>
                  <a:srgbClr val="FFFFFF"/>
                </a:solidFill>
              </a:rPr>
              <a:t>Tree ID </a:t>
            </a:r>
          </a:p>
        </p:txBody>
      </p:sp>
    </p:spTree>
    <p:extLst>
      <p:ext uri="{BB962C8B-B14F-4D97-AF65-F5344CB8AC3E}">
        <p14:creationId xmlns:p14="http://schemas.microsoft.com/office/powerpoint/2010/main" val="2174357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63014-9771-CC30-01EA-CE1D03B0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4000"/>
              <a:t>Family: Fagaceae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450D-F10D-FD4B-F64D-04CB2A640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Oak, Chestnut, Beech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(Quercus, Castanea, Fagus)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Not Horse Chestnut! (Aesculus)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Characterized by cupule nuts where some of the nut is visible.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There is generally only one seed per nut in this family of trees.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High density per cubic foot. 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Slower growing trees</a:t>
            </a:r>
          </a:p>
          <a:p>
            <a:r>
              <a:rPr lang="en-US" sz="1700">
                <a:solidFill>
                  <a:schemeClr val="tx1">
                    <a:alpha val="55000"/>
                  </a:schemeClr>
                </a:solidFill>
              </a:rPr>
              <a:t>Catkins instead of flowers</a:t>
            </a:r>
          </a:p>
          <a:p>
            <a:pPr marL="0" indent="0">
              <a:buNone/>
            </a:pPr>
            <a:endParaRPr lang="en-US" sz="1700">
              <a:solidFill>
                <a:schemeClr val="tx1">
                  <a:alpha val="55000"/>
                </a:schemeClr>
              </a:solidFill>
            </a:endParaRPr>
          </a:p>
          <a:p>
            <a:endParaRPr lang="en-US" sz="17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59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D54E0-4D29-8C5D-E203-DAD794AE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Red Oaks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35B7-7E73-4AAE-C8DA-CFFDC18F5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effectLst/>
                <a:highlight>
                  <a:srgbClr val="FFFFFF"/>
                </a:highlight>
                <a:latin typeface="Google Sans"/>
              </a:rPr>
              <a:t>Erythrobalanus “Red Oak Family” Trees that appear similar microscopically but differ phenotypically.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Google Sans"/>
              </a:rPr>
              <a:t>-Acorns mature in two years instead of one.</a:t>
            </a:r>
          </a:p>
          <a:p>
            <a:pPr marL="0" indent="0">
              <a:buNone/>
            </a:pPr>
            <a:r>
              <a:rPr lang="en-US" sz="2000" b="0" i="0">
                <a:effectLst/>
                <a:highlight>
                  <a:srgbClr val="FFFFFF"/>
                </a:highlight>
                <a:latin typeface="Google Sans"/>
              </a:rPr>
              <a:t>-Leaf lobes have bristled ends. Ellipsoidallis, Rubra, Palustris</a:t>
            </a: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Google Sans"/>
              </a:rPr>
              <a:t>-Edges of acorns are smoother than White Oaks</a:t>
            </a:r>
            <a:endParaRPr lang="en-US" sz="2000" b="0" i="0">
              <a:effectLst/>
              <a:highlight>
                <a:srgbClr val="FFFFFF"/>
              </a:highlight>
              <a:latin typeface="Google Sans"/>
            </a:endParaRPr>
          </a:p>
          <a:p>
            <a:endParaRPr lang="en-US" sz="2000" b="0" i="0">
              <a:effectLst/>
              <a:highlight>
                <a:srgbClr val="FFFFFF"/>
              </a:highlight>
              <a:latin typeface="Google Sans"/>
            </a:endParaRPr>
          </a:p>
          <a:p>
            <a:endParaRPr lang="en-US" sz="2000"/>
          </a:p>
        </p:txBody>
      </p:sp>
      <p:pic>
        <p:nvPicPr>
          <p:cNvPr id="5" name="Picture 4" descr="Autumn leaves in a tree">
            <a:extLst>
              <a:ext uri="{FF2B5EF4-FFF2-40B4-BE49-F238E27FC236}">
                <a16:creationId xmlns:a16="http://schemas.microsoft.com/office/drawing/2014/main" id="{79963BB8-11BC-C3A4-01A3-5D1ED02EC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28" r="18271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AF55B4-1DCA-D178-CEB7-12E0F40E1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175" y="0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3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2242-40AF-286A-8345-C09B03536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Oak Quercus rubra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5A66-F521-5119-82EC-2281937C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E45F3-EE0B-0C43-9250-7FB2A9BC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5786830" cy="4351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5939F-A766-91C6-C0F6-033C387B3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29" y="1825621"/>
            <a:ext cx="543595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09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C32D-6942-8E6D-4C6A-857CC2F6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Northern Pin Oak Quercus </a:t>
            </a:r>
            <a:r>
              <a:rPr lang="en-US" dirty="0" err="1"/>
              <a:t>ellipsoidalis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AC224-2D47-EE75-FDB0-F32838972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E715D-6B2E-9C0C-FF23-DBA2DD0A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5257800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F929C5-CC72-BA0C-4791-81EB1153F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668520" cy="455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9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68E8-B3E7-00F3-23A6-A13D1D76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Eastern Pin Oak Quercus palustris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9A91A-1ACB-E613-3129-7E124826F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B1285-C304-B619-3B5A-415E3C3D3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60" y="1958027"/>
            <a:ext cx="5603240" cy="4056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B6D842-B244-8018-5758-F628B912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40" y="1825625"/>
            <a:ext cx="3500120" cy="453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40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636B2-EB2D-F7A3-819E-93194DCE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White Oak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E4B5B-234E-7B81-FD7F-E72C06BD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effectLst/>
                <a:highlight>
                  <a:srgbClr val="FFFFFF"/>
                </a:highlight>
                <a:latin typeface="Google Sans"/>
              </a:rPr>
              <a:t>Leucobalanus “White Oak”- trees in this group appear similar microscopically but differ phenotypically.</a:t>
            </a:r>
          </a:p>
          <a:p>
            <a:r>
              <a:rPr lang="en-US" sz="2000">
                <a:highlight>
                  <a:srgbClr val="FFFFFF"/>
                </a:highlight>
                <a:latin typeface="Google Sans"/>
              </a:rPr>
              <a:t>Acorns mature in one year.</a:t>
            </a:r>
          </a:p>
          <a:p>
            <a:r>
              <a:rPr lang="en-US" sz="2000">
                <a:highlight>
                  <a:srgbClr val="FFFFFF"/>
                </a:highlight>
                <a:latin typeface="Google Sans"/>
              </a:rPr>
              <a:t>Leaf lobes are rounded and do not have bristled ends.</a:t>
            </a:r>
          </a:p>
          <a:p>
            <a:r>
              <a:rPr lang="en-US" sz="2000">
                <a:highlight>
                  <a:srgbClr val="FFFFFF"/>
                </a:highlight>
                <a:latin typeface="Google Sans"/>
              </a:rPr>
              <a:t>Macrocarpa, Bicolor, Alba</a:t>
            </a:r>
          </a:p>
          <a:p>
            <a:r>
              <a:rPr lang="en-US" sz="2000">
                <a:highlight>
                  <a:srgbClr val="FFFFFF"/>
                </a:highlight>
                <a:latin typeface="Google Sans"/>
              </a:rPr>
              <a:t>Acorns are rougher and hairier than Red Oaks</a:t>
            </a:r>
          </a:p>
          <a:p>
            <a:endParaRPr lang="en-US" sz="2000" b="0" i="0">
              <a:effectLst/>
              <a:highlight>
                <a:srgbClr val="FFFFFF"/>
              </a:highlight>
              <a:latin typeface="Google Sans"/>
            </a:endParaRPr>
          </a:p>
          <a:p>
            <a:endParaRPr lang="en-US" sz="2000"/>
          </a:p>
        </p:txBody>
      </p:sp>
      <p:pic>
        <p:nvPicPr>
          <p:cNvPr id="5" name="Picture 4" descr="Texture of a tree bark">
            <a:extLst>
              <a:ext uri="{FF2B5EF4-FFF2-40B4-BE49-F238E27FC236}">
                <a16:creationId xmlns:a16="http://schemas.microsoft.com/office/drawing/2014/main" id="{88E394AF-22D6-A746-38B2-754CFBD130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86" r="18850" b="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065E66-D26B-EEB3-F522-8EC90666C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996" y="-8105"/>
            <a:ext cx="6254001" cy="68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0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2BE2-DBCB-B83E-506B-C21D3721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Oak Quercus alba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4D53-DF47-BBA3-1C77-9F660B3A9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44742-B1EB-8734-F111-A95BB4840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0" y="1825625"/>
            <a:ext cx="5137150" cy="4046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4E13CB-3E1C-D746-61C6-6F1F412D6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78317"/>
            <a:ext cx="44043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C453-99EE-74B1-E613-B3BBA3CB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 Oak Quercus macrocarpa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4CB43-FDEC-92DA-141E-4A2B03612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B9826-B388-6254-44E0-CB6F736C1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897" y="1825625"/>
            <a:ext cx="5684903" cy="4351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2BD099-DC7B-1E46-90FF-62E470FF3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668520" cy="435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7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4A01-3CA5-A54E-D79F-579365CD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Swamp White Oak Quercus bicolor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9B49-8B7B-2427-14C2-D37DFBEC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423A6-F639-D018-F53A-7579AA8AB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257800" cy="4360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21EF76-6A4E-B9B9-7682-1D52B128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690688"/>
            <a:ext cx="388112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05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894D539200844BFE0E0554F421699" ma:contentTypeVersion="15" ma:contentTypeDescription="Create a new document." ma:contentTypeScope="" ma:versionID="db59c7a491a744ec2d54642538edbea0">
  <xsd:schema xmlns:xsd="http://www.w3.org/2001/XMLSchema" xmlns:xs="http://www.w3.org/2001/XMLSchema" xmlns:p="http://schemas.microsoft.com/office/2006/metadata/properties" xmlns:ns2="7f1b0a71-6fb2-4853-acf8-7ede476f1787" xmlns:ns3="700175d4-e065-4959-822d-e9b710e13b88" targetNamespace="http://schemas.microsoft.com/office/2006/metadata/properties" ma:root="true" ma:fieldsID="c212832851e7215a045c87fcf889afde" ns2:_="" ns3:_="">
    <xsd:import namespace="7f1b0a71-6fb2-4853-acf8-7ede476f1787"/>
    <xsd:import namespace="700175d4-e065-4959-822d-e9b710e13b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b0a71-6fb2-4853-acf8-7ede476f17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261dfc9-31a6-4084-8878-0c8c0a4def98}" ma:internalName="TaxCatchAll" ma:showField="CatchAllData" ma:web="7f1b0a71-6fb2-4853-acf8-7ede476f17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175d4-e065-4959-822d-e9b710e13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0a1a12f-0bf3-4877-a088-8da4a3ccd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1b0a71-6fb2-4853-acf8-7ede476f1787" xsi:nil="true"/>
    <lcf76f155ced4ddcb4097134ff3c332f xmlns="700175d4-e065-4959-822d-e9b710e13b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F02679-4B5D-4546-BF77-A21CB5DAFDE4}"/>
</file>

<file path=customXml/itemProps2.xml><?xml version="1.0" encoding="utf-8"?>
<ds:datastoreItem xmlns:ds="http://schemas.openxmlformats.org/officeDocument/2006/customXml" ds:itemID="{9DD4FECF-BA2C-4104-A38A-16B93335DC0A}"/>
</file>

<file path=customXml/itemProps3.xml><?xml version="1.0" encoding="utf-8"?>
<ds:datastoreItem xmlns:ds="http://schemas.openxmlformats.org/officeDocument/2006/customXml" ds:itemID="{BA5B3474-20F2-40CC-9553-30586514FCAD}"/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193</Words>
  <Application>Microsoft Macintosh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Google Sans</vt:lpstr>
      <vt:lpstr>Office Theme</vt:lpstr>
      <vt:lpstr>Native Oaks of Minnesota</vt:lpstr>
      <vt:lpstr>Family: Fagaceae</vt:lpstr>
      <vt:lpstr>Red Oaks</vt:lpstr>
      <vt:lpstr>Red Oak Quercus rubra</vt:lpstr>
      <vt:lpstr>Northern Pin Oak Quercus ellipsoidalis </vt:lpstr>
      <vt:lpstr>Eastern Pin Oak Quercus palustris</vt:lpstr>
      <vt:lpstr>White Oak Family</vt:lpstr>
      <vt:lpstr>White Oak Quercus alba</vt:lpstr>
      <vt:lpstr>Bur Oak Quercus macrocarpa</vt:lpstr>
      <vt:lpstr>Swamp White Oak Quercus bicolor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Walsh</dc:creator>
  <cp:lastModifiedBy>Connor Walsh</cp:lastModifiedBy>
  <cp:revision>1</cp:revision>
  <dcterms:created xsi:type="dcterms:W3CDTF">2024-09-29T21:01:25Z</dcterms:created>
  <dcterms:modified xsi:type="dcterms:W3CDTF">2024-09-30T13:28:23Z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0x010100D20894D539200844BFE0E0554F421699</vt:lpwstr>
  </property>
</Properties>
</file>