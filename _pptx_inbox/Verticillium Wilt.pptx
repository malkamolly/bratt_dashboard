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6"/>
    <p:restoredTop sz="94719"/>
  </p:normalViewPr>
  <p:slideViewPr>
    <p:cSldViewPr snapToGrid="0">
      <p:cViewPr varScale="1">
        <p:scale>
          <a:sx n="119" d="100"/>
          <a:sy n="119" d="100"/>
        </p:scale>
        <p:origin x="21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or Walsh" userId="cb12c7ce-1ae2-4515-a9f0-690290c2b7c9" providerId="ADAL" clId="{A1D2B77C-DD15-754F-A9E2-801D7915D06D}"/>
    <pc:docChg chg="custSel modSld">
      <pc:chgData name="Connor Walsh" userId="cb12c7ce-1ae2-4515-a9f0-690290c2b7c9" providerId="ADAL" clId="{A1D2B77C-DD15-754F-A9E2-801D7915D06D}" dt="2024-06-25T12:59:09.791" v="10" actId="27636"/>
      <pc:docMkLst>
        <pc:docMk/>
      </pc:docMkLst>
      <pc:sldChg chg="modSp mod">
        <pc:chgData name="Connor Walsh" userId="cb12c7ce-1ae2-4515-a9f0-690290c2b7c9" providerId="ADAL" clId="{A1D2B77C-DD15-754F-A9E2-801D7915D06D}" dt="2024-06-25T12:58:55.128" v="7" actId="1076"/>
        <pc:sldMkLst>
          <pc:docMk/>
          <pc:sldMk cId="2988893444" sldId="261"/>
        </pc:sldMkLst>
        <pc:spChg chg="mod">
          <ac:chgData name="Connor Walsh" userId="cb12c7ce-1ae2-4515-a9f0-690290c2b7c9" providerId="ADAL" clId="{A1D2B77C-DD15-754F-A9E2-801D7915D06D}" dt="2024-06-25T12:58:48.104" v="4" actId="27636"/>
          <ac:spMkLst>
            <pc:docMk/>
            <pc:sldMk cId="2988893444" sldId="261"/>
            <ac:spMk id="2" creationId="{E89E58AA-0939-2E25-09B7-9B8ABCE413CA}"/>
          </ac:spMkLst>
        </pc:spChg>
        <pc:spChg chg="mod">
          <ac:chgData name="Connor Walsh" userId="cb12c7ce-1ae2-4515-a9f0-690290c2b7c9" providerId="ADAL" clId="{A1D2B77C-DD15-754F-A9E2-801D7915D06D}" dt="2024-06-25T12:58:45.070" v="2" actId="27636"/>
          <ac:spMkLst>
            <pc:docMk/>
            <pc:sldMk cId="2988893444" sldId="261"/>
            <ac:spMk id="3" creationId="{6AC9F0ED-1BB6-1560-9D26-FAFC2765FB0C}"/>
          </ac:spMkLst>
        </pc:spChg>
        <pc:picChg chg="mod">
          <ac:chgData name="Connor Walsh" userId="cb12c7ce-1ae2-4515-a9f0-690290c2b7c9" providerId="ADAL" clId="{A1D2B77C-DD15-754F-A9E2-801D7915D06D}" dt="2024-06-25T12:58:55.128" v="7" actId="1076"/>
          <ac:picMkLst>
            <pc:docMk/>
            <pc:sldMk cId="2988893444" sldId="261"/>
            <ac:picMk id="4" creationId="{749E32AC-F6E1-C468-FEF6-A16063F7648E}"/>
          </ac:picMkLst>
        </pc:picChg>
      </pc:sldChg>
      <pc:sldChg chg="modSp mod">
        <pc:chgData name="Connor Walsh" userId="cb12c7ce-1ae2-4515-a9f0-690290c2b7c9" providerId="ADAL" clId="{A1D2B77C-DD15-754F-A9E2-801D7915D06D}" dt="2024-06-25T12:59:02.742" v="8" actId="14100"/>
        <pc:sldMkLst>
          <pc:docMk/>
          <pc:sldMk cId="3233462909" sldId="262"/>
        </pc:sldMkLst>
        <pc:spChg chg="mod">
          <ac:chgData name="Connor Walsh" userId="cb12c7ce-1ae2-4515-a9f0-690290c2b7c9" providerId="ADAL" clId="{A1D2B77C-DD15-754F-A9E2-801D7915D06D}" dt="2024-06-25T12:59:02.742" v="8" actId="14100"/>
          <ac:spMkLst>
            <pc:docMk/>
            <pc:sldMk cId="3233462909" sldId="262"/>
            <ac:spMk id="2" creationId="{1D5F990F-4E31-4E3D-A976-706D52FBE896}"/>
          </ac:spMkLst>
        </pc:spChg>
      </pc:sldChg>
      <pc:sldChg chg="modSp mod">
        <pc:chgData name="Connor Walsh" userId="cb12c7ce-1ae2-4515-a9f0-690290c2b7c9" providerId="ADAL" clId="{A1D2B77C-DD15-754F-A9E2-801D7915D06D}" dt="2024-06-25T12:59:09.791" v="10" actId="27636"/>
        <pc:sldMkLst>
          <pc:docMk/>
          <pc:sldMk cId="3169199929" sldId="263"/>
        </pc:sldMkLst>
        <pc:spChg chg="mod">
          <ac:chgData name="Connor Walsh" userId="cb12c7ce-1ae2-4515-a9f0-690290c2b7c9" providerId="ADAL" clId="{A1D2B77C-DD15-754F-A9E2-801D7915D06D}" dt="2024-06-25T12:59:09.791" v="10" actId="27636"/>
          <ac:spMkLst>
            <pc:docMk/>
            <pc:sldMk cId="3169199929" sldId="263"/>
            <ac:spMk id="2" creationId="{F8A74110-63E1-6F52-2169-CE6FCB1508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5CDB-4268-7C33-E4BA-6029BB7E3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778BF-58AA-E601-54B6-1BFBC0A1A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751E8-AD51-843C-DA2B-DAE8BD96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B6AEC-7AB5-4112-DFDC-9EEB4148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15FA5-1EED-3E97-373E-0B0FD62E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C77C-EDC6-71BE-6E62-56F2EA28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E44EE-ECAB-F1B1-F3C4-6DE2D9079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05EDD-01F4-DB0D-3851-8CDD121A4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F0341-39EA-EAAF-E5E1-EA5D564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BFB6-56AB-FA53-05D7-EC95646F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5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D6-AAB4-66A3-9D69-9997C49D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7AA8D-A23E-15F2-135C-29E112085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0351F-E3AA-38AF-1552-9E685CC0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AC5FF-1C88-11EA-9E77-A7476147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44BEE-A769-D92F-530F-B3980EAB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6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B8DB4-0F61-C738-58D5-26526056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8736B-31BA-E322-E7B1-AACBABBE1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5848D-3942-433A-88A5-5D26007D0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62586-1656-4CC1-3AE5-88AB2D78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DF81E-BCCF-0533-323A-C639E33B8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85F2D-08AC-9C22-D83F-F3E35C93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4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136D-BF68-0B13-5216-57DA0EBF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0C7FA-2C02-21EF-7D0B-698849EB4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2A50E-7A5F-0966-3640-2F1FC653F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37009-DE86-67EB-65D6-93F48C159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7DD81-A21A-3308-6C66-CECDF21E2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174DD9-4E98-E79C-2AD1-41EC64C3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4E195-A8CF-545A-AA50-9463108A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06B24-93DF-96BF-13A3-8D45CED5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8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83C99-214B-46DE-9C3B-A945058A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ECAA6-E2A5-78E5-A848-54FEBD2B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E1021-087C-34D8-2B67-1F8482C4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9523B-4DF8-0C15-6C06-B75AA799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8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E4705-4178-A025-DD96-9889D72E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88F87-63C2-CDDC-AD42-D90D8832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1B77D-767A-3730-2645-38C0682D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0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792D-0233-EEAB-A1E6-B59AB560A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F3650-DCFE-9B01-6D27-C90589DB7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D078D-7DCF-86DE-B0BD-36DEDA37A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B4F0A-366D-06DA-B80C-6192AB887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F5372-DA10-EB51-BB0A-F923DBB5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543CD-B5C6-AD76-D815-7F3B42D5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6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15C0-24A1-9D71-56CA-0471D4A2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502DC-67FA-2E3D-F7F0-A103C0110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3D52A-20C6-1782-B027-66D4556B9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6E9CD-40F0-7D02-B528-F22D3BC7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A4E6C-E6D5-CC66-EAB9-A5AC3517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EF393-E958-898B-0892-57088C1D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8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D439-62C8-E25B-9584-846334F9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F43B5-81ED-BF38-6360-7AE647F5D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145F5-0B96-8C18-9CC7-0A3A9CD0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B3A4E-3928-60A3-231F-AA5C1814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1A5F8-237D-04D4-9B9A-78FA342C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93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0E75B0-2946-FE80-BA20-AB26269A8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19EDA-38C9-2AD8-E064-80D17BE36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911BA-86D3-01B2-BA2E-CECF0E81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6389-998C-46B0-E997-64CBC157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5BC5B-91E1-8DC0-D154-2531E060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D81A0A-BB35-E7A8-0D77-11B21DBF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D9572-380C-39AB-349E-D2B49924A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32958-6CA1-8AF3-BBBF-71D5DBD88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482CE-E13C-EF40-957F-B39E4EEEF2A8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68778-F9FB-9324-5522-8E0C89827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769D7-F784-AA21-90AB-AA45D05EF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B72EA-7B53-5644-80FF-14165155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53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5AFBF-D311-89B9-963B-1147F34B3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Verticillium Wilt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7DE81-1839-8E29-DF19-3AAFED2BE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</a:rPr>
              <a:t>“Verticillium dahlia”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79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utumn Leaves">
            <a:extLst>
              <a:ext uri="{FF2B5EF4-FFF2-40B4-BE49-F238E27FC236}">
                <a16:creationId xmlns:a16="http://schemas.microsoft.com/office/drawing/2014/main" id="{253EB6CA-FF89-91FC-91DA-DA989D0CCE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5" b="786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33E11-DD79-74AD-F0D2-795CE67C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910431"/>
            <a:ext cx="4724400" cy="1466455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do we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F6689-94BC-5FF7-42E1-ED8725EF1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492080"/>
            <a:ext cx="4724400" cy="3015849"/>
          </a:xfrm>
        </p:spPr>
        <p:txBody>
          <a:bodyPr>
            <a:normAutofit/>
          </a:bodyPr>
          <a:lstStyle/>
          <a:p>
            <a:r>
              <a:rPr lang="en-US" sz="1300">
                <a:solidFill>
                  <a:schemeClr val="bg1"/>
                </a:solidFill>
              </a:rPr>
              <a:t>Soil borne fungal issue</a:t>
            </a:r>
          </a:p>
          <a:p>
            <a:r>
              <a:rPr lang="en-US" sz="1300">
                <a:solidFill>
                  <a:schemeClr val="bg1"/>
                </a:solidFill>
              </a:rPr>
              <a:t>Lives in the soil and can be there for years without evidence.</a:t>
            </a:r>
          </a:p>
          <a:p>
            <a:r>
              <a:rPr lang="en-US" sz="1300">
                <a:solidFill>
                  <a:schemeClr val="bg1"/>
                </a:solidFill>
              </a:rPr>
              <a:t>Kills trees!!</a:t>
            </a:r>
          </a:p>
          <a:p>
            <a:r>
              <a:rPr lang="en-US" sz="1300">
                <a:solidFill>
                  <a:schemeClr val="bg1"/>
                </a:solidFill>
              </a:rPr>
              <a:t>Attacks xylem.</a:t>
            </a:r>
          </a:p>
          <a:p>
            <a:r>
              <a:rPr lang="en-US" sz="1300">
                <a:solidFill>
                  <a:schemeClr val="bg1"/>
                </a:solidFill>
              </a:rPr>
              <a:t>Commonly infected in our area are sugar maple, catalpa, magnolia. </a:t>
            </a:r>
          </a:p>
          <a:p>
            <a:r>
              <a:rPr lang="en-US" sz="1300">
                <a:solidFill>
                  <a:schemeClr val="bg1"/>
                </a:solidFill>
              </a:rPr>
              <a:t> Sugar maple super common on the west side of the twin cities</a:t>
            </a:r>
          </a:p>
          <a:p>
            <a:r>
              <a:rPr lang="en-US" sz="1300">
                <a:solidFill>
                  <a:schemeClr val="bg1"/>
                </a:solidFill>
              </a:rPr>
              <a:t>Many catalpas inside the city with no other apparent issue.</a:t>
            </a:r>
          </a:p>
          <a:p>
            <a:r>
              <a:rPr lang="en-US" sz="1300">
                <a:solidFill>
                  <a:schemeClr val="bg1"/>
                </a:solidFill>
              </a:rPr>
              <a:t>No treatment available currently.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08ADC-DECB-3770-9DBE-9BB77378CB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48996-CDE8-749F-9DAF-B29B99778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910431"/>
            <a:ext cx="4724400" cy="1466455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What’s a disease effecting the xylem?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2E98B-988E-5E90-059D-10BF5D9DE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492080"/>
            <a:ext cx="4724400" cy="3015849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Disease causing the water translocation material of a tree to become plugged.</a:t>
            </a:r>
          </a:p>
          <a:p>
            <a:r>
              <a:rPr lang="en-US" sz="2000">
                <a:solidFill>
                  <a:schemeClr val="bg1"/>
                </a:solidFill>
              </a:rPr>
              <a:t>Diminishes or completely disrupts tree’s ability to pull water up  into canopy.</a:t>
            </a:r>
          </a:p>
          <a:p>
            <a:r>
              <a:rPr lang="en-US" sz="2000">
                <a:solidFill>
                  <a:schemeClr val="bg1"/>
                </a:solidFill>
              </a:rPr>
              <a:t>Tip dieback commonly occurs after leaves begin to dry out (dessicate) because they cannot remain hydrated.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1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Texture of a tree bark">
            <a:extLst>
              <a:ext uri="{FF2B5EF4-FFF2-40B4-BE49-F238E27FC236}">
                <a16:creationId xmlns:a16="http://schemas.microsoft.com/office/drawing/2014/main" id="{94728B69-CC51-B72B-3959-2A53B71988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96" b="689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075A4C-E42C-4FC9-D8F2-CA644D79D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910431"/>
            <a:ext cx="4724400" cy="1466455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Common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3EC4-C2F3-2C71-DF7C-5E7BEDE9D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492080"/>
            <a:ext cx="4724400" cy="3015849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Streaks common under bark on twigs but not necessary for ID.  Maples streak green, catalpas brown.  May or may not see streaks.  Lab test guarantees diagnosis.</a:t>
            </a:r>
          </a:p>
          <a:p>
            <a:r>
              <a:rPr lang="en-US" sz="2000">
                <a:solidFill>
                  <a:schemeClr val="bg1"/>
                </a:solidFill>
              </a:rPr>
              <a:t>Abnormal leaf color, wilting throughout canopy, small leaf size, thinning canopy with or without other obvious adverse conditions, tip dieback.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9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ross section of young plant and roots">
            <a:extLst>
              <a:ext uri="{FF2B5EF4-FFF2-40B4-BE49-F238E27FC236}">
                <a16:creationId xmlns:a16="http://schemas.microsoft.com/office/drawing/2014/main" id="{3B7C19C9-B5C2-A52F-8212-595ECFF727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3" b="2102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178EBF-DD05-C8A2-1361-E7DAF2B7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910431"/>
            <a:ext cx="4724400" cy="1466455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Where does it live?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31ABE-5B31-4DE4-65F9-240D2AB49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492080"/>
            <a:ext cx="4724400" cy="3015849"/>
          </a:xfrm>
        </p:spPr>
        <p:txBody>
          <a:bodyPr>
            <a:norm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The fungus that causes Verticillium Wilt lives in the soil.</a:t>
            </a:r>
          </a:p>
          <a:p>
            <a:r>
              <a:rPr lang="en-US" sz="1400">
                <a:solidFill>
                  <a:schemeClr val="bg1"/>
                </a:solidFill>
              </a:rPr>
              <a:t>It cannot be removed.</a:t>
            </a:r>
          </a:p>
          <a:p>
            <a:r>
              <a:rPr lang="en-US" sz="1400">
                <a:solidFill>
                  <a:schemeClr val="bg1"/>
                </a:solidFill>
              </a:rPr>
              <a:t>Fungal bodies infect roots where it is pulled up into the canopy.</a:t>
            </a:r>
          </a:p>
          <a:p>
            <a:r>
              <a:rPr lang="en-US" sz="1400">
                <a:solidFill>
                  <a:schemeClr val="bg1"/>
                </a:solidFill>
              </a:rPr>
              <a:t>Can live in the soil for years with no evidence of its presence.</a:t>
            </a:r>
          </a:p>
          <a:p>
            <a:r>
              <a:rPr lang="en-US" sz="1400">
                <a:solidFill>
                  <a:schemeClr val="bg1"/>
                </a:solidFill>
              </a:rPr>
              <a:t>Trees can be removed and replaced with unsusceptible species.</a:t>
            </a:r>
          </a:p>
          <a:p>
            <a:r>
              <a:rPr lang="en-US" sz="1400">
                <a:solidFill>
                  <a:schemeClr val="bg1"/>
                </a:solidFill>
              </a:rPr>
              <a:t>Oak, Birch, Apple, Hackberry, Pine, Spruce, Walnut, Willow, Ironwood are all among tree species native to MN that are not susceptible to VW.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28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E58AA-0939-2E25-09B7-9B8ABCE4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68114"/>
            <a:ext cx="86958" cy="510832"/>
          </a:xfrm>
        </p:spPr>
        <p:txBody>
          <a:bodyPr anchor="b">
            <a:normAutofit fontScale="90000"/>
          </a:bodyPr>
          <a:lstStyle/>
          <a:p>
            <a:endParaRPr lang="en-US" sz="3800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E05351-315A-4BA9-A90A-FE5C94952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1851222"/>
            <a:ext cx="54482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9F0ED-1BB6-1560-9D26-FAFC2765F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632" y="2044901"/>
            <a:ext cx="236827" cy="274434"/>
          </a:xfrm>
        </p:spPr>
        <p:txBody>
          <a:bodyPr>
            <a:normAutofit fontScale="70000" lnSpcReduction="20000"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E32AC-F6E1-C468-FEF6-A16063F764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15" r="15872" b="1"/>
          <a:stretch/>
        </p:blipFill>
        <p:spPr>
          <a:xfrm>
            <a:off x="3238052" y="889679"/>
            <a:ext cx="5058982" cy="50786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9D20816A-53A8-414B-9615-2877C1081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74779" y="1850813"/>
            <a:ext cx="4917221" cy="5007187"/>
            <a:chOff x="6833344" y="1502570"/>
            <a:chExt cx="4917221" cy="500718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9CC84F6-0A3D-42D4-84D1-34E857123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6833344" y="1502570"/>
              <a:ext cx="0" cy="5007187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76FD32F-1C07-4AF8-994F-CDC99B5D4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836570" y="1502570"/>
              <a:ext cx="491399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889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6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F990F-4E31-4E3D-A976-706D52FB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652" y="4647304"/>
            <a:ext cx="239716" cy="765944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1DF0EE-547E-6DC9-52EC-574DA3EA4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6574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33462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F18414D-1626-4996-AACB-23D3DE45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74110-63E1-6F52-2169-CE6FCB15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2097742" y="707132"/>
            <a:ext cx="331134" cy="889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endParaRPr lang="en-US" sz="3500" dirty="0">
              <a:solidFill>
                <a:schemeClr val="bg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D5EAB1-EF2A-8E17-8C0F-A8E9C5A358B1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/>
          <a:srcRect r="6042"/>
          <a:stretch/>
        </p:blipFill>
        <p:spPr>
          <a:xfrm>
            <a:off x="5748338" y="10"/>
            <a:ext cx="6443662" cy="685798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28875" y="3209925"/>
            <a:ext cx="976312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19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9E5AB6-622B-349F-B400-566357003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5238" r="-1" b="38299"/>
          <a:stretch/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18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894D539200844BFE0E0554F421699" ma:contentTypeVersion="15" ma:contentTypeDescription="Create a new document." ma:contentTypeScope="" ma:versionID="db59c7a491a744ec2d54642538edbea0">
  <xsd:schema xmlns:xsd="http://www.w3.org/2001/XMLSchema" xmlns:xs="http://www.w3.org/2001/XMLSchema" xmlns:p="http://schemas.microsoft.com/office/2006/metadata/properties" xmlns:ns2="7f1b0a71-6fb2-4853-acf8-7ede476f1787" xmlns:ns3="700175d4-e065-4959-822d-e9b710e13b88" targetNamespace="http://schemas.microsoft.com/office/2006/metadata/properties" ma:root="true" ma:fieldsID="c212832851e7215a045c87fcf889afde" ns2:_="" ns3:_="">
    <xsd:import namespace="7f1b0a71-6fb2-4853-acf8-7ede476f1787"/>
    <xsd:import namespace="700175d4-e065-4959-822d-e9b710e13b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1b0a71-6fb2-4853-acf8-7ede476f17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261dfc9-31a6-4084-8878-0c8c0a4def98}" ma:internalName="TaxCatchAll" ma:showField="CatchAllData" ma:web="7f1b0a71-6fb2-4853-acf8-7ede476f17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175d4-e065-4959-822d-e9b710e13b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0a1a12f-0bf3-4877-a088-8da4a3ccd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f1b0a71-6fb2-4853-acf8-7ede476f1787" xsi:nil="true"/>
    <lcf76f155ced4ddcb4097134ff3c332f xmlns="700175d4-e065-4959-822d-e9b710e13b88">
      <Terms xmlns="http://schemas.microsoft.com/office/infopath/2007/PartnerControls"/>
    </lcf76f155ced4ddcb4097134ff3c332f>
    <SharedWithUsers xmlns="7f1b0a71-6fb2-4853-acf8-7ede476f1787">
      <UserInfo>
        <DisplayName>Tanner Homme</DisplayName>
        <AccountId>965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F41FB38-A88A-4D9B-A344-33D6BA858418}"/>
</file>

<file path=customXml/itemProps2.xml><?xml version="1.0" encoding="utf-8"?>
<ds:datastoreItem xmlns:ds="http://schemas.openxmlformats.org/officeDocument/2006/customXml" ds:itemID="{A295CD40-0B86-4FA6-AF0B-F5F8506999D9}"/>
</file>

<file path=customXml/itemProps3.xml><?xml version="1.0" encoding="utf-8"?>
<ds:datastoreItem xmlns:ds="http://schemas.openxmlformats.org/officeDocument/2006/customXml" ds:itemID="{C24850DB-94A0-49D8-B971-336C9EC652E5}"/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276</Words>
  <Application>Microsoft Macintosh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Verticillium Wilt</vt:lpstr>
      <vt:lpstr>Why do we care?</vt:lpstr>
      <vt:lpstr>What’s a disease effecting the xylem?</vt:lpstr>
      <vt:lpstr>Common Symptoms</vt:lpstr>
      <vt:lpstr>Where does it live?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Walsh</dc:creator>
  <cp:lastModifiedBy>Connor Walsh</cp:lastModifiedBy>
  <cp:revision>1</cp:revision>
  <dcterms:created xsi:type="dcterms:W3CDTF">2024-06-25T01:22:20Z</dcterms:created>
  <dcterms:modified xsi:type="dcterms:W3CDTF">2024-06-25T12:59:13Z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0x010100D20894D539200844BFE0E0554F421699</vt:lpwstr>
  </property>
  <property fmtid="{D5CDD505-2E9C-101B-9397-08002B2CF9AE}" pid="3" name="MediaServiceImageTags">
    <vt:lpwstr/>
  </property>
</Properties>
</file>