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3" r:id="rId11"/>
    <p:sldId id="264" r:id="rId12"/>
    <p:sldId id="262"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1"/>
    <p:restoredTop sz="94726"/>
  </p:normalViewPr>
  <p:slideViewPr>
    <p:cSldViewPr snapToGrid="0">
      <p:cViewPr varScale="1">
        <p:scale>
          <a:sx n="100" d="100"/>
          <a:sy n="100" d="100"/>
        </p:scale>
        <p:origin x="184"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or Walsh" userId="cb12c7ce-1ae2-4515-a9f0-690290c2b7c9" providerId="ADAL" clId="{3E6A5F97-C166-704C-AFA8-456D1F86C12D}"/>
    <pc:docChg chg="addSld delSld">
      <pc:chgData name="Connor Walsh" userId="cb12c7ce-1ae2-4515-a9f0-690290c2b7c9" providerId="ADAL" clId="{3E6A5F97-C166-704C-AFA8-456D1F86C12D}" dt="2024-12-16T01:06:38.194" v="1" actId="2696"/>
      <pc:docMkLst>
        <pc:docMk/>
      </pc:docMkLst>
      <pc:sldChg chg="add del">
        <pc:chgData name="Connor Walsh" userId="cb12c7ce-1ae2-4515-a9f0-690290c2b7c9" providerId="ADAL" clId="{3E6A5F97-C166-704C-AFA8-456D1F86C12D}" dt="2024-12-16T01:06:38.194" v="1" actId="2696"/>
        <pc:sldMkLst>
          <pc:docMk/>
          <pc:sldMk cId="381954726"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B6C51-4A3A-C872-42DA-1C54AD8D65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90FF66-1259-C27B-C4B4-ADD7BBC03D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D0B2AA-19F7-7D06-1590-66FF87476CC3}"/>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BCAE6C6D-389A-DD11-9DFA-98572BC1E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42FFB-F755-3BCE-161C-9D202B6ED3F9}"/>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1587554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863AB-1E5C-78C6-364F-8A1B633F51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21D8EA-D8D8-AEA4-5786-08B3DD86E1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C5D48-2D22-8757-44D5-FA9D927F1821}"/>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FF323EB2-7AD2-D508-D1B2-555E1FC62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2974EA-7F42-FD42-540A-CA33B639D615}"/>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2129710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A84-6030-723F-2DCC-997A4D4EAA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F698C9-725C-C220-108D-3EED39E6D1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307998-D993-1EAC-001F-171F26BB022F}"/>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6ECC87DB-29CD-B114-3315-E7BFFA88F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04CEE-8282-9A11-BF74-A0579EAC506F}"/>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258596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29348-D02A-972C-6A6F-524EA849BE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52AD9-0A02-D7B9-D6CC-E5D9343006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68260D-BA6F-EE6F-4384-85C2F55633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0C5BDD-93D9-FAC8-9FED-B7C23FDCBE6A}"/>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6" name="Footer Placeholder 5">
            <a:extLst>
              <a:ext uri="{FF2B5EF4-FFF2-40B4-BE49-F238E27FC236}">
                <a16:creationId xmlns:a16="http://schemas.microsoft.com/office/drawing/2014/main" id="{B535EABA-12BF-8FCC-CCBA-EA9F080AEE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48708C-D5E2-F615-B28B-B1CDA5EAB8E6}"/>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393988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0790-05AB-099D-6604-3B00E0F4F3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BB6CD0-A653-9FAD-F4BC-951B5069F0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317B0D-7096-E12D-CEA6-0F37F5751C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5D3912-2612-6494-72D1-57D733903C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CDCD8D-8D69-7A28-7222-838B2739D4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8ED114-555D-4A66-3E00-799EF84916BF}"/>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8" name="Footer Placeholder 7">
            <a:extLst>
              <a:ext uri="{FF2B5EF4-FFF2-40B4-BE49-F238E27FC236}">
                <a16:creationId xmlns:a16="http://schemas.microsoft.com/office/drawing/2014/main" id="{FCB2D4B4-BEA7-A193-47E8-A199FFA513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A89003-25F8-E895-287C-1E3A36A760D9}"/>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219430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EC1A-C135-C5BB-452B-416EA354F5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4F1E6D-DF3E-C628-61BD-337A02D3DC1B}"/>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4" name="Footer Placeholder 3">
            <a:extLst>
              <a:ext uri="{FF2B5EF4-FFF2-40B4-BE49-F238E27FC236}">
                <a16:creationId xmlns:a16="http://schemas.microsoft.com/office/drawing/2014/main" id="{D9BE88DD-FF46-36C5-591C-1AE27FA0AD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F2AA89-903A-9DBC-A225-C32A7F05E7EC}"/>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3970780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B9B5BA-AFD8-394F-1A92-3D09A001AB93}"/>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3" name="Footer Placeholder 2">
            <a:extLst>
              <a:ext uri="{FF2B5EF4-FFF2-40B4-BE49-F238E27FC236}">
                <a16:creationId xmlns:a16="http://schemas.microsoft.com/office/drawing/2014/main" id="{098E148F-722B-ED63-9B7B-EF7F0827C6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7BB153-2EA6-3A19-E856-98C9C33B0254}"/>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304509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08DA2-F036-FD76-3B32-8D0FEB3771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7DDB8F-AFC0-5920-F4CE-284A348FC8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F262FD-CC13-8715-72DD-DA1EB53DC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B5AE1F-9D62-4406-04F8-3382300097B8}"/>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6" name="Footer Placeholder 5">
            <a:extLst>
              <a:ext uri="{FF2B5EF4-FFF2-40B4-BE49-F238E27FC236}">
                <a16:creationId xmlns:a16="http://schemas.microsoft.com/office/drawing/2014/main" id="{57F52EE5-B5C1-C0C8-A6E2-94D6D76D30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AE299-1EF1-7959-2DC5-8B9ECB29C7BA}"/>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1109016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8594-A1AA-44BD-1873-2F48A615D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E450C3-36BA-DDFB-5AC1-EF39CBE04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16E991-D3C1-1910-9910-D42F9EA22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8ACC1-EDF1-419B-FC19-E46DD42DFC47}"/>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6" name="Footer Placeholder 5">
            <a:extLst>
              <a:ext uri="{FF2B5EF4-FFF2-40B4-BE49-F238E27FC236}">
                <a16:creationId xmlns:a16="http://schemas.microsoft.com/office/drawing/2014/main" id="{83B8BF61-998D-5EFF-4669-7F21A75FD2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B131F8-76AB-39FF-B7B6-DC798A737C0C}"/>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3713269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B31A-3593-800C-5742-E07BD2539A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866D99-7974-8420-C122-3A4446867E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B18C71-FDC4-9B8D-4862-6E18A3ACA15B}"/>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40EA8F34-EF29-B9C0-1F97-48E9EA8267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4260F-122D-BCC6-6BB9-9C16C10AAC09}"/>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1183895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2CB78-55AB-1FE3-DB37-0A88023C59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4B928F-4263-269A-775F-BB0D8C42B6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A6760-7E69-794A-6525-86FC05ED1E7A}"/>
              </a:ext>
            </a:extLst>
          </p:cNvPr>
          <p:cNvSpPr>
            <a:spLocks noGrp="1"/>
          </p:cNvSpPr>
          <p:nvPr>
            <p:ph type="dt" sz="half" idx="10"/>
          </p:nvPr>
        </p:nvSpPr>
        <p:spPr/>
        <p:txBody>
          <a:body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5126379E-D2CB-CF75-E692-9D45EE307D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0D531-B8D0-6F9B-95CF-E0B73D4D85A2}"/>
              </a:ext>
            </a:extLst>
          </p:cNvPr>
          <p:cNvSpPr>
            <a:spLocks noGrp="1"/>
          </p:cNvSpPr>
          <p:nvPr>
            <p:ph type="sldNum" sz="quarter" idx="12"/>
          </p:nvPr>
        </p:nvSpPr>
        <p:spPr/>
        <p:txBody>
          <a:bodyPr/>
          <a:lstStyle/>
          <a:p>
            <a:fld id="{1AA93B76-BAE3-1A49-B262-13411E654AB6}" type="slidenum">
              <a:rPr lang="en-US" smtClean="0"/>
              <a:t>‹#›</a:t>
            </a:fld>
            <a:endParaRPr lang="en-US"/>
          </a:p>
        </p:txBody>
      </p:sp>
    </p:spTree>
    <p:extLst>
      <p:ext uri="{BB962C8B-B14F-4D97-AF65-F5344CB8AC3E}">
        <p14:creationId xmlns:p14="http://schemas.microsoft.com/office/powerpoint/2010/main" val="421672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E3EE77-73AD-28A0-6F51-C85814C8C2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262BEA-8F08-B930-330E-A380FECCA3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9A33DD-ED2B-FD85-3F19-C377288151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4B0329-A64C-0443-A39C-80375E015286}" type="datetimeFigureOut">
              <a:rPr lang="en-US" smtClean="0"/>
              <a:t>12/15/24</a:t>
            </a:fld>
            <a:endParaRPr lang="en-US"/>
          </a:p>
        </p:txBody>
      </p:sp>
      <p:sp>
        <p:nvSpPr>
          <p:cNvPr id="5" name="Footer Placeholder 4">
            <a:extLst>
              <a:ext uri="{FF2B5EF4-FFF2-40B4-BE49-F238E27FC236}">
                <a16:creationId xmlns:a16="http://schemas.microsoft.com/office/drawing/2014/main" id="{CDECC343-F841-95E4-F06C-9A85A8994A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BCAA1F-F963-D74B-890D-43999270AD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A93B76-BAE3-1A49-B262-13411E654AB6}" type="slidenum">
              <a:rPr lang="en-US" smtClean="0"/>
              <a:t>‹#›</a:t>
            </a:fld>
            <a:endParaRPr lang="en-US"/>
          </a:p>
        </p:txBody>
      </p:sp>
    </p:spTree>
    <p:extLst>
      <p:ext uri="{BB962C8B-B14F-4D97-AF65-F5344CB8AC3E}">
        <p14:creationId xmlns:p14="http://schemas.microsoft.com/office/powerpoint/2010/main" val="2985740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marylandbiodiversity.com/view/10423" TargetMode="External"/><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photo of a pine cone">
            <a:extLst>
              <a:ext uri="{FF2B5EF4-FFF2-40B4-BE49-F238E27FC236}">
                <a16:creationId xmlns:a16="http://schemas.microsoft.com/office/drawing/2014/main" id="{EF91A06C-B137-166B-ED07-9A78CF09BAB5}"/>
              </a:ext>
            </a:extLst>
          </p:cNvPr>
          <p:cNvPicPr>
            <a:picLocks noChangeAspect="1"/>
          </p:cNvPicPr>
          <p:nvPr/>
        </p:nvPicPr>
        <p:blipFill>
          <a:blip r:embed="rId2"/>
          <a:srcRect l="15944"/>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583E7D-5A62-674A-384D-141B16311CE8}"/>
              </a:ext>
            </a:extLst>
          </p:cNvPr>
          <p:cNvSpPr>
            <a:spLocks noGrp="1"/>
          </p:cNvSpPr>
          <p:nvPr>
            <p:ph type="ctrTitle"/>
          </p:nvPr>
        </p:nvSpPr>
        <p:spPr>
          <a:xfrm>
            <a:off x="477981" y="1122363"/>
            <a:ext cx="4023360" cy="3204134"/>
          </a:xfrm>
        </p:spPr>
        <p:txBody>
          <a:bodyPr anchor="b">
            <a:normAutofit/>
          </a:bodyPr>
          <a:lstStyle/>
          <a:p>
            <a:pPr algn="l"/>
            <a:r>
              <a:rPr lang="en-US" sz="4400" dirty="0">
                <a:solidFill>
                  <a:schemeClr val="bg1"/>
                </a:solidFill>
              </a:rPr>
              <a:t>PPM 080424</a:t>
            </a:r>
            <a:br>
              <a:rPr lang="en-US" sz="4400" dirty="0">
                <a:solidFill>
                  <a:schemeClr val="bg1"/>
                </a:solidFill>
              </a:rPr>
            </a:br>
            <a:r>
              <a:rPr lang="en-US" sz="4400" dirty="0">
                <a:solidFill>
                  <a:schemeClr val="bg1"/>
                </a:solidFill>
              </a:rPr>
              <a:t>Oak </a:t>
            </a:r>
            <a:r>
              <a:rPr lang="en-US" sz="4400" dirty="0" err="1">
                <a:solidFill>
                  <a:schemeClr val="bg1"/>
                </a:solidFill>
              </a:rPr>
              <a:t>Cynipidae</a:t>
            </a:r>
            <a:br>
              <a:rPr lang="en-US" sz="4400" dirty="0">
                <a:solidFill>
                  <a:schemeClr val="bg1"/>
                </a:solidFill>
              </a:rPr>
            </a:br>
            <a:r>
              <a:rPr lang="en-US" sz="4400" dirty="0">
                <a:solidFill>
                  <a:schemeClr val="bg1"/>
                </a:solidFill>
              </a:rPr>
              <a:t>Pine Brown Spot Needle Blight</a:t>
            </a:r>
          </a:p>
        </p:txBody>
      </p:sp>
      <p:sp>
        <p:nvSpPr>
          <p:cNvPr id="3" name="Subtitle 2">
            <a:extLst>
              <a:ext uri="{FF2B5EF4-FFF2-40B4-BE49-F238E27FC236}">
                <a16:creationId xmlns:a16="http://schemas.microsoft.com/office/drawing/2014/main" id="{0B441AB1-FA25-82B4-F2A4-0CC5E1FD5A54}"/>
              </a:ext>
            </a:extLst>
          </p:cNvPr>
          <p:cNvSpPr>
            <a:spLocks noGrp="1"/>
          </p:cNvSpPr>
          <p:nvPr>
            <p:ph type="subTitle" idx="1"/>
          </p:nvPr>
        </p:nvSpPr>
        <p:spPr>
          <a:xfrm>
            <a:off x="477980" y="4872922"/>
            <a:ext cx="4023359" cy="1208141"/>
          </a:xfrm>
        </p:spPr>
        <p:txBody>
          <a:bodyPr>
            <a:normAutofit/>
          </a:bodyPr>
          <a:lstStyle/>
          <a:p>
            <a:pPr algn="l"/>
            <a:endParaRPr lang="en-US" sz="2000">
              <a:solidFill>
                <a:schemeClr val="bg1"/>
              </a:solidFill>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214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photo of a pine cone">
            <a:extLst>
              <a:ext uri="{FF2B5EF4-FFF2-40B4-BE49-F238E27FC236}">
                <a16:creationId xmlns:a16="http://schemas.microsoft.com/office/drawing/2014/main" id="{ACC156C5-54F7-03F0-FC57-B507EE447B93}"/>
              </a:ext>
            </a:extLst>
          </p:cNvPr>
          <p:cNvPicPr>
            <a:picLocks noChangeAspect="1"/>
          </p:cNvPicPr>
          <p:nvPr/>
        </p:nvPicPr>
        <p:blipFill>
          <a:blip r:embed="rId2"/>
          <a:srcRect l="15934"/>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C048590-4598-DC64-D675-158CEE1DF77D}"/>
              </a:ext>
            </a:extLst>
          </p:cNvPr>
          <p:cNvSpPr>
            <a:spLocks noGrp="1"/>
          </p:cNvSpPr>
          <p:nvPr>
            <p:ph type="title"/>
          </p:nvPr>
        </p:nvSpPr>
        <p:spPr>
          <a:xfrm>
            <a:off x="371094" y="1161288"/>
            <a:ext cx="3438144" cy="1124712"/>
          </a:xfrm>
        </p:spPr>
        <p:txBody>
          <a:bodyPr anchor="b">
            <a:normAutofit/>
          </a:bodyPr>
          <a:lstStyle/>
          <a:p>
            <a:r>
              <a:rPr lang="en-US" sz="2400">
                <a:solidFill>
                  <a:schemeClr val="bg1"/>
                </a:solidFill>
                <a:effectLst/>
                <a:latin typeface="Helvetica Neue" panose="02000503000000020004" pitchFamily="2" charset="0"/>
              </a:rPr>
              <a:t>Brown spot needle blight</a:t>
            </a:r>
            <a:br>
              <a:rPr lang="en-US" sz="2400">
                <a:solidFill>
                  <a:schemeClr val="bg1"/>
                </a:solidFill>
                <a:effectLst/>
                <a:latin typeface="Helvetica Neue" panose="02000503000000020004" pitchFamily="2" charset="0"/>
              </a:rPr>
            </a:br>
            <a:endParaRPr lang="en-US" sz="2400">
              <a:solidFill>
                <a:schemeClr val="bg1"/>
              </a:solidFill>
            </a:endParaRP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38DC179-9F97-A195-3F9B-995ED3B65904}"/>
              </a:ext>
            </a:extLst>
          </p:cNvPr>
          <p:cNvSpPr>
            <a:spLocks noGrp="1"/>
          </p:cNvSpPr>
          <p:nvPr>
            <p:ph idx="1"/>
          </p:nvPr>
        </p:nvSpPr>
        <p:spPr>
          <a:xfrm>
            <a:off x="371094" y="2718054"/>
            <a:ext cx="3438906" cy="3207258"/>
          </a:xfrm>
        </p:spPr>
        <p:txBody>
          <a:bodyPr anchor="t">
            <a:normAutofit lnSpcReduction="10000"/>
          </a:bodyPr>
          <a:lstStyle/>
          <a:p>
            <a:r>
              <a:rPr lang="en-US" sz="1200">
                <a:solidFill>
                  <a:schemeClr val="bg1"/>
                </a:solidFill>
                <a:effectLst/>
                <a:latin typeface="Helvetica Neue" panose="02000503000000020004" pitchFamily="2" charset="0"/>
              </a:rPr>
              <a:t>Scotch and Ponderosa</a:t>
            </a:r>
          </a:p>
          <a:p>
            <a:r>
              <a:rPr lang="en-US" sz="1200">
                <a:solidFill>
                  <a:schemeClr val="bg1"/>
                </a:solidFill>
                <a:effectLst/>
                <a:latin typeface="Helvetica Neue" panose="02000503000000020004" pitchFamily="2" charset="0"/>
              </a:rPr>
              <a:t>White pine not as common. </a:t>
            </a:r>
          </a:p>
          <a:p>
            <a:r>
              <a:rPr lang="en-US" sz="1200">
                <a:solidFill>
                  <a:schemeClr val="bg1"/>
                </a:solidFill>
                <a:effectLst/>
                <a:latin typeface="Helvetica Neue" panose="02000503000000020004" pitchFamily="2" charset="0"/>
              </a:rPr>
              <a:t>Reddish brown spots on needles. </a:t>
            </a:r>
          </a:p>
          <a:p>
            <a:r>
              <a:rPr lang="en-US" sz="1200">
                <a:solidFill>
                  <a:schemeClr val="bg1"/>
                </a:solidFill>
                <a:effectLst/>
                <a:latin typeface="Helvetica Neue" panose="02000503000000020004" pitchFamily="2" charset="0"/>
              </a:rPr>
              <a:t>Needles can stay green where they attach to the shoot. Needles often fall end of season </a:t>
            </a:r>
          </a:p>
          <a:p>
            <a:r>
              <a:rPr lang="en-US" sz="1200">
                <a:solidFill>
                  <a:schemeClr val="bg1"/>
                </a:solidFill>
                <a:effectLst/>
                <a:latin typeface="Helvetica Neue" panose="02000503000000020004" pitchFamily="2" charset="0"/>
              </a:rPr>
              <a:t>Frequently confused with dothistroma (common on Austrian, red pine, Mugho)</a:t>
            </a:r>
          </a:p>
          <a:p>
            <a:r>
              <a:rPr lang="en-US" sz="1200">
                <a:solidFill>
                  <a:schemeClr val="bg1"/>
                </a:solidFill>
                <a:effectLst/>
                <a:latin typeface="Helvetica Neue" panose="02000503000000020004" pitchFamily="2" charset="0"/>
              </a:rPr>
              <a:t>Sprayed 3 times in the spring like dothistroma. </a:t>
            </a:r>
          </a:p>
          <a:p>
            <a:r>
              <a:rPr lang="en-US" sz="1200">
                <a:solidFill>
                  <a:schemeClr val="bg1"/>
                </a:solidFill>
                <a:effectLst/>
                <a:latin typeface="Helvetica Neue" panose="02000503000000020004" pitchFamily="2" charset="0"/>
              </a:rPr>
              <a:t>Environmental protections are limited to sanitation (raking up needles) and redirecting sprinklers away from needles to make conditions less favorable to fungal growth. </a:t>
            </a:r>
          </a:p>
          <a:p>
            <a:endParaRPr lang="en-US" sz="1200">
              <a:solidFill>
                <a:schemeClr val="bg1"/>
              </a:solidFill>
            </a:endParaRPr>
          </a:p>
        </p:txBody>
      </p:sp>
    </p:spTree>
    <p:extLst>
      <p:ext uri="{BB962C8B-B14F-4D97-AF65-F5344CB8AC3E}">
        <p14:creationId xmlns:p14="http://schemas.microsoft.com/office/powerpoint/2010/main" val="4162854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77AA2-F4E2-AB16-BF8D-6497D7D03129}"/>
              </a:ext>
            </a:extLst>
          </p:cNvPr>
          <p:cNvSpPr>
            <a:spLocks noGrp="1"/>
          </p:cNvSpPr>
          <p:nvPr>
            <p:ph type="title"/>
          </p:nvPr>
        </p:nvSpPr>
        <p:spPr>
          <a:xfrm>
            <a:off x="1524000" y="4914855"/>
            <a:ext cx="9144000" cy="786703"/>
          </a:xfrm>
        </p:spPr>
        <p:txBody>
          <a:bodyPr vert="horz" lIns="91440" tIns="45720" rIns="91440" bIns="45720" rtlCol="0" anchor="b">
            <a:normAutofit/>
          </a:bodyPr>
          <a:lstStyle/>
          <a:p>
            <a:pPr algn="ctr"/>
            <a:endParaRPr lang="en-US" sz="3600" kern="1200">
              <a:solidFill>
                <a:schemeClr val="tx1"/>
              </a:solidFill>
              <a:latin typeface="+mj-lt"/>
              <a:ea typeface="+mj-ea"/>
              <a:cs typeface="+mj-cs"/>
            </a:endParaRPr>
          </a:p>
        </p:txBody>
      </p:sp>
      <p:pic>
        <p:nvPicPr>
          <p:cNvPr id="5" name="Content Placeholder 4" descr="Close-up of a plant with rust on it&#10;&#10;Description automatically generated">
            <a:extLst>
              <a:ext uri="{FF2B5EF4-FFF2-40B4-BE49-F238E27FC236}">
                <a16:creationId xmlns:a16="http://schemas.microsoft.com/office/drawing/2014/main" id="{22DA2B0F-78FD-9DFF-CF35-445B3D8C32E7}"/>
              </a:ext>
            </a:extLst>
          </p:cNvPr>
          <p:cNvPicPr>
            <a:picLocks noGrp="1" noChangeAspect="1"/>
          </p:cNvPicPr>
          <p:nvPr>
            <p:ph idx="1"/>
          </p:nvPr>
        </p:nvPicPr>
        <p:blipFill>
          <a:blip r:embed="rId2"/>
          <a:srcRect r="11652" b="2"/>
          <a:stretch/>
        </p:blipFill>
        <p:spPr>
          <a:xfrm>
            <a:off x="20" y="10"/>
            <a:ext cx="6095980" cy="5701548"/>
          </a:xfrm>
          <a:prstGeom prst="rect">
            <a:avLst/>
          </a:prstGeom>
        </p:spPr>
      </p:pic>
      <p:pic>
        <p:nvPicPr>
          <p:cNvPr id="6" name="Picture 5">
            <a:extLst>
              <a:ext uri="{FF2B5EF4-FFF2-40B4-BE49-F238E27FC236}">
                <a16:creationId xmlns:a16="http://schemas.microsoft.com/office/drawing/2014/main" id="{D6BB9DB8-1204-DBC6-1AA3-A5B92EFF598F}"/>
              </a:ext>
            </a:extLst>
          </p:cNvPr>
          <p:cNvPicPr>
            <a:picLocks noChangeAspect="1"/>
          </p:cNvPicPr>
          <p:nvPr/>
        </p:nvPicPr>
        <p:blipFill>
          <a:blip r:embed="rId3"/>
          <a:srcRect t="33027" b="10308"/>
          <a:stretch/>
        </p:blipFill>
        <p:spPr>
          <a:xfrm>
            <a:off x="6095998" y="10"/>
            <a:ext cx="6096000" cy="5701548"/>
          </a:xfrm>
          <a:prstGeom prst="rect">
            <a:avLst/>
          </a:prstGeom>
        </p:spPr>
      </p:pic>
      <p:grpSp>
        <p:nvGrpSpPr>
          <p:cNvPr id="11" name="Group 10">
            <a:extLst>
              <a:ext uri="{FF2B5EF4-FFF2-40B4-BE49-F238E27FC236}">
                <a16:creationId xmlns:a16="http://schemas.microsoft.com/office/drawing/2014/main" id="{A2A4F5A4-1409-1D21-0242-3FD06D0E87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4543999"/>
            <a:ext cx="12192000" cy="123364"/>
            <a:chOff x="1" y="6737460"/>
            <a:chExt cx="12192000" cy="123364"/>
          </a:xfrm>
        </p:grpSpPr>
        <p:sp>
          <p:nvSpPr>
            <p:cNvPr id="12" name="Rectangle 11">
              <a:extLst>
                <a:ext uri="{FF2B5EF4-FFF2-40B4-BE49-F238E27FC236}">
                  <a16:creationId xmlns:a16="http://schemas.microsoft.com/office/drawing/2014/main" id="{21B05FAC-21CF-D544-5CD5-C4FB65772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3E6EB2-0E8D-3B8D-C520-219B1D4F0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10776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leaves">
            <a:extLst>
              <a:ext uri="{FF2B5EF4-FFF2-40B4-BE49-F238E27FC236}">
                <a16:creationId xmlns:a16="http://schemas.microsoft.com/office/drawing/2014/main" id="{544EF028-23A4-2C6E-FA2D-68258EF9BDFF}"/>
              </a:ext>
            </a:extLst>
          </p:cNvPr>
          <p:cNvPicPr>
            <a:picLocks noChangeAspect="1"/>
          </p:cNvPicPr>
          <p:nvPr/>
        </p:nvPicPr>
        <p:blipFill>
          <a:blip r:embed="rId2"/>
          <a:srcRect r="15617" b="-1"/>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50ABDA-E5AE-5EEC-BDF8-7F643CD72BC2}"/>
              </a:ext>
            </a:extLst>
          </p:cNvPr>
          <p:cNvSpPr>
            <a:spLocks noGrp="1"/>
          </p:cNvSpPr>
          <p:nvPr>
            <p:ph type="title"/>
          </p:nvPr>
        </p:nvSpPr>
        <p:spPr>
          <a:xfrm>
            <a:off x="371094" y="1161288"/>
            <a:ext cx="3438144" cy="1124712"/>
          </a:xfrm>
        </p:spPr>
        <p:txBody>
          <a:bodyPr anchor="b">
            <a:normAutofit/>
          </a:bodyPr>
          <a:lstStyle/>
          <a:p>
            <a:r>
              <a:rPr lang="en-US" sz="2400">
                <a:solidFill>
                  <a:schemeClr val="bg1"/>
                </a:solidFill>
                <a:effectLst/>
                <a:latin typeface="Helvetica Neue" panose="02000503000000020004" pitchFamily="2" charset="0"/>
              </a:rPr>
              <a:t>Jumping oak gall </a:t>
            </a:r>
            <a:r>
              <a:rPr lang="en-US" sz="2400" i="1">
                <a:solidFill>
                  <a:schemeClr val="bg1"/>
                </a:solidFill>
                <a:effectLst/>
                <a:latin typeface="Helvetica Neue" panose="02000503000000020004" pitchFamily="2" charset="0"/>
              </a:rPr>
              <a:t>Neuroterus saltatorius</a:t>
            </a:r>
            <a:br>
              <a:rPr lang="en-US" sz="2400">
                <a:solidFill>
                  <a:schemeClr val="bg1"/>
                </a:solidFill>
                <a:effectLst/>
                <a:latin typeface="Helvetica Neue" panose="02000503000000020004" pitchFamily="2" charset="0"/>
              </a:rPr>
            </a:br>
            <a:endParaRPr lang="en-US" sz="2400">
              <a:solidFill>
                <a:schemeClr val="bg1"/>
              </a:solidFill>
            </a:endParaRP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D3DED20-5C3A-D89A-4C71-5ECD8878CBEA}"/>
              </a:ext>
            </a:extLst>
          </p:cNvPr>
          <p:cNvSpPr>
            <a:spLocks noGrp="1"/>
          </p:cNvSpPr>
          <p:nvPr>
            <p:ph idx="1"/>
          </p:nvPr>
        </p:nvSpPr>
        <p:spPr>
          <a:xfrm>
            <a:off x="371094" y="2718054"/>
            <a:ext cx="3438906" cy="3207258"/>
          </a:xfrm>
        </p:spPr>
        <p:txBody>
          <a:bodyPr anchor="t">
            <a:normAutofit/>
          </a:bodyPr>
          <a:lstStyle/>
          <a:p>
            <a:r>
              <a:rPr lang="en-US" sz="1700">
                <a:solidFill>
                  <a:schemeClr val="bg1"/>
                </a:solidFill>
                <a:effectLst/>
                <a:latin typeface="Helvetica Neue" panose="02000503000000020004" pitchFamily="2" charset="0"/>
              </a:rPr>
              <a:t>Caused by cynipidae: small stingless wasps </a:t>
            </a:r>
          </a:p>
          <a:p>
            <a:r>
              <a:rPr lang="en-US" sz="1700">
                <a:solidFill>
                  <a:schemeClr val="bg1"/>
                </a:solidFill>
                <a:effectLst/>
                <a:latin typeface="Helvetica Neue" panose="02000503000000020004" pitchFamily="2" charset="0"/>
              </a:rPr>
              <a:t>Non lethal </a:t>
            </a:r>
          </a:p>
          <a:p>
            <a:r>
              <a:rPr lang="en-US" sz="1700">
                <a:solidFill>
                  <a:schemeClr val="bg1"/>
                </a:solidFill>
                <a:effectLst/>
                <a:latin typeface="Helvetica Neue" panose="02000503000000020004" pitchFamily="2" charset="0"/>
              </a:rPr>
              <a:t>Cosmetic only, looks like confetti on the leaf</a:t>
            </a:r>
          </a:p>
          <a:p>
            <a:r>
              <a:rPr lang="en-US" sz="1700">
                <a:solidFill>
                  <a:schemeClr val="bg1"/>
                </a:solidFill>
                <a:effectLst/>
                <a:latin typeface="Helvetica Neue" panose="02000503000000020004" pitchFamily="2" charset="0"/>
              </a:rPr>
              <a:t>Called jumping because the wasp larva is moving around inside the gall. They often fall off the leaf when they near maturity. </a:t>
            </a:r>
          </a:p>
          <a:p>
            <a:r>
              <a:rPr lang="en-US" sz="1700">
                <a:solidFill>
                  <a:schemeClr val="bg1"/>
                </a:solidFill>
                <a:effectLst/>
                <a:latin typeface="Helvetica Neue" panose="02000503000000020004" pitchFamily="2" charset="0"/>
              </a:rPr>
              <a:t>Found on white and bur oak. </a:t>
            </a:r>
          </a:p>
          <a:p>
            <a:endParaRPr lang="en-US" sz="1700">
              <a:solidFill>
                <a:schemeClr val="bg1"/>
              </a:solidFill>
            </a:endParaRPr>
          </a:p>
        </p:txBody>
      </p:sp>
    </p:spTree>
    <p:extLst>
      <p:ext uri="{BB962C8B-B14F-4D97-AF65-F5344CB8AC3E}">
        <p14:creationId xmlns:p14="http://schemas.microsoft.com/office/powerpoint/2010/main" val="400653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leaf&#10;&#10;Description automatically generated">
            <a:extLst>
              <a:ext uri="{FF2B5EF4-FFF2-40B4-BE49-F238E27FC236}">
                <a16:creationId xmlns:a16="http://schemas.microsoft.com/office/drawing/2014/main" id="{4CB66D09-7F4D-B082-CEEB-C2AF56D1B7E7}"/>
              </a:ext>
            </a:extLst>
          </p:cNvPr>
          <p:cNvPicPr>
            <a:picLocks noChangeAspect="1"/>
          </p:cNvPicPr>
          <p:nvPr/>
        </p:nvPicPr>
        <p:blipFill>
          <a:blip r:embed="rId2">
            <a:alphaModFix amt="60000"/>
          </a:blip>
          <a:srcRect l="21491" r="17992" b="-1"/>
          <a:stretch/>
        </p:blipFill>
        <p:spPr>
          <a:xfrm>
            <a:off x="181899" y="182880"/>
            <a:ext cx="5915025" cy="6499784"/>
          </a:xfrm>
          <a:prstGeom prst="rect">
            <a:avLst/>
          </a:prstGeom>
        </p:spPr>
      </p:pic>
      <p:pic>
        <p:nvPicPr>
          <p:cNvPr id="7" name="Picture 6" descr="A close-up of a leaf with many dots&#10;&#10;Description automatically generated">
            <a:extLst>
              <a:ext uri="{FF2B5EF4-FFF2-40B4-BE49-F238E27FC236}">
                <a16:creationId xmlns:a16="http://schemas.microsoft.com/office/drawing/2014/main" id="{EAED65C4-4D25-BABD-FD89-5FEBF75DAE0B}"/>
              </a:ext>
            </a:extLst>
          </p:cNvPr>
          <p:cNvPicPr>
            <a:picLocks noChangeAspect="1"/>
          </p:cNvPicPr>
          <p:nvPr/>
        </p:nvPicPr>
        <p:blipFill>
          <a:blip r:embed="rId3">
            <a:alphaModFix amt="60000"/>
          </a:blip>
          <a:srcRect l="5480" r="34002" b="-1"/>
          <a:stretch/>
        </p:blipFill>
        <p:spPr>
          <a:xfrm>
            <a:off x="6095156" y="182880"/>
            <a:ext cx="5915025" cy="6499784"/>
          </a:xfrm>
          <a:prstGeom prst="rect">
            <a:avLst/>
          </a:prstGeom>
        </p:spPr>
      </p:pic>
      <p:sp>
        <p:nvSpPr>
          <p:cNvPr id="2" name="Title 1">
            <a:extLst>
              <a:ext uri="{FF2B5EF4-FFF2-40B4-BE49-F238E27FC236}">
                <a16:creationId xmlns:a16="http://schemas.microsoft.com/office/drawing/2014/main" id="{232694B8-CAAD-3EC5-A98A-B3F5CAB05E58}"/>
              </a:ext>
            </a:extLst>
          </p:cNvPr>
          <p:cNvSpPr>
            <a:spLocks noGrp="1"/>
          </p:cNvSpPr>
          <p:nvPr>
            <p:ph type="title"/>
          </p:nvPr>
        </p:nvSpPr>
        <p:spPr>
          <a:xfrm>
            <a:off x="844614" y="557189"/>
            <a:ext cx="10509179" cy="2795808"/>
          </a:xfrm>
        </p:spPr>
        <p:txBody>
          <a:bodyPr vert="horz" lIns="91440" tIns="45720" rIns="91440" bIns="45720" rtlCol="0" anchor="b">
            <a:normAutofit/>
          </a:bodyPr>
          <a:lstStyle/>
          <a:p>
            <a:endParaRPr lang="en-US" sz="4000" kern="1200">
              <a:solidFill>
                <a:srgbClr val="FFFFFF"/>
              </a:solidFill>
              <a:latin typeface="+mj-lt"/>
              <a:ea typeface="+mj-ea"/>
              <a:cs typeface="+mj-cs"/>
            </a:endParaRPr>
          </a:p>
        </p:txBody>
      </p:sp>
      <p:sp>
        <p:nvSpPr>
          <p:cNvPr id="18" name="Content Placeholder 17">
            <a:extLst>
              <a:ext uri="{FF2B5EF4-FFF2-40B4-BE49-F238E27FC236}">
                <a16:creationId xmlns:a16="http://schemas.microsoft.com/office/drawing/2014/main" id="{9B3A5BD0-01D7-648A-677C-9698658B3097}"/>
              </a:ext>
            </a:extLst>
          </p:cNvPr>
          <p:cNvSpPr>
            <a:spLocks noGrp="1"/>
          </p:cNvSpPr>
          <p:nvPr>
            <p:ph idx="1"/>
          </p:nvPr>
        </p:nvSpPr>
        <p:spPr>
          <a:xfrm>
            <a:off x="844614" y="3526300"/>
            <a:ext cx="10509179" cy="2588458"/>
          </a:xfrm>
        </p:spPr>
        <p:txBody>
          <a:bodyPr>
            <a:normAutofit/>
          </a:bodyPr>
          <a:lstStyle/>
          <a:p>
            <a:endParaRPr lang="en-US" sz="2000">
              <a:solidFill>
                <a:srgbClr val="FFFFFF"/>
              </a:solidFill>
            </a:endParaRPr>
          </a:p>
        </p:txBody>
      </p:sp>
    </p:spTree>
    <p:extLst>
      <p:ext uri="{BB962C8B-B14F-4D97-AF65-F5344CB8AC3E}">
        <p14:creationId xmlns:p14="http://schemas.microsoft.com/office/powerpoint/2010/main" val="30002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utumn Leaves">
            <a:extLst>
              <a:ext uri="{FF2B5EF4-FFF2-40B4-BE49-F238E27FC236}">
                <a16:creationId xmlns:a16="http://schemas.microsoft.com/office/drawing/2014/main" id="{50B40D86-7276-83F4-3D89-CDF2A6CCC65E}"/>
              </a:ext>
            </a:extLst>
          </p:cNvPr>
          <p:cNvPicPr>
            <a:picLocks noChangeAspect="1"/>
          </p:cNvPicPr>
          <p:nvPr/>
        </p:nvPicPr>
        <p:blipFill>
          <a:blip r:embed="rId2">
            <a:alphaModFix amt="60000"/>
          </a:blip>
          <a:srcRect t="7865" b="7865"/>
          <a:stretch/>
        </p:blipFill>
        <p:spPr>
          <a:xfrm>
            <a:off x="-1" y="10"/>
            <a:ext cx="12192001" cy="6857990"/>
          </a:xfrm>
          <a:prstGeom prst="rect">
            <a:avLst/>
          </a:prstGeom>
        </p:spPr>
      </p:pic>
      <p:sp>
        <p:nvSpPr>
          <p:cNvPr id="2" name="Title 1">
            <a:extLst>
              <a:ext uri="{FF2B5EF4-FFF2-40B4-BE49-F238E27FC236}">
                <a16:creationId xmlns:a16="http://schemas.microsoft.com/office/drawing/2014/main" id="{2C3E7FE8-0F26-DA5F-D73D-93952CD7E314}"/>
              </a:ext>
            </a:extLst>
          </p:cNvPr>
          <p:cNvSpPr>
            <a:spLocks noGrp="1"/>
          </p:cNvSpPr>
          <p:nvPr>
            <p:ph type="title"/>
          </p:nvPr>
        </p:nvSpPr>
        <p:spPr>
          <a:xfrm>
            <a:off x="838199" y="1671570"/>
            <a:ext cx="5155261" cy="4072044"/>
          </a:xfrm>
        </p:spPr>
        <p:txBody>
          <a:bodyPr anchor="t">
            <a:normAutofit/>
          </a:bodyPr>
          <a:lstStyle/>
          <a:p>
            <a:r>
              <a:rPr lang="en-US">
                <a:solidFill>
                  <a:srgbClr val="FFFFFF"/>
                </a:solidFill>
                <a:effectLst/>
                <a:latin typeface="Helvetica Neue" panose="02000503000000020004" pitchFamily="2" charset="0"/>
              </a:rPr>
              <a:t>Oak bullet gall </a:t>
            </a:r>
            <a:r>
              <a:rPr lang="en-US" b="1">
                <a:solidFill>
                  <a:srgbClr val="FFFFFF"/>
                </a:solidFill>
                <a:effectLst/>
                <a:latin typeface="Helvetica Neue" panose="02000503000000020004" pitchFamily="2" charset="0"/>
              </a:rPr>
              <a:t>Disholcaspis quercusmamma</a:t>
            </a:r>
            <a:br>
              <a:rPr lang="en-US">
                <a:solidFill>
                  <a:srgbClr val="FFFFFF"/>
                </a:solidFill>
                <a:effectLst/>
                <a:latin typeface="Helvetica Neue" panose="02000503000000020004" pitchFamily="2" charset="0"/>
              </a:rPr>
            </a:br>
            <a:endParaRPr lang="en-US">
              <a:solidFill>
                <a:srgbClr val="FFFFFF"/>
              </a:solidFill>
            </a:endParaRPr>
          </a:p>
        </p:txBody>
      </p:sp>
      <p:sp>
        <p:nvSpPr>
          <p:cNvPr id="3" name="Content Placeholder 2">
            <a:extLst>
              <a:ext uri="{FF2B5EF4-FFF2-40B4-BE49-F238E27FC236}">
                <a16:creationId xmlns:a16="http://schemas.microsoft.com/office/drawing/2014/main" id="{4B0B5A85-E287-8B9F-4F69-A46556027367}"/>
              </a:ext>
            </a:extLst>
          </p:cNvPr>
          <p:cNvSpPr>
            <a:spLocks noGrp="1"/>
          </p:cNvSpPr>
          <p:nvPr>
            <p:ph idx="1"/>
          </p:nvPr>
        </p:nvSpPr>
        <p:spPr>
          <a:xfrm>
            <a:off x="6185986" y="1671566"/>
            <a:ext cx="5170861" cy="4072043"/>
          </a:xfrm>
        </p:spPr>
        <p:txBody>
          <a:bodyPr>
            <a:normAutofit/>
          </a:bodyPr>
          <a:lstStyle/>
          <a:p>
            <a:r>
              <a:rPr lang="en-US" sz="1100">
                <a:solidFill>
                  <a:srgbClr val="FFFFFF"/>
                </a:solidFill>
                <a:effectLst/>
                <a:latin typeface="Helvetica Neue" panose="02000503000000020004" pitchFamily="2" charset="0"/>
              </a:rPr>
              <a:t>Caused also by cynipid wasps </a:t>
            </a:r>
          </a:p>
          <a:p>
            <a:r>
              <a:rPr lang="en-US" sz="1100">
                <a:solidFill>
                  <a:srgbClr val="FFFFFF"/>
                </a:solidFill>
                <a:effectLst/>
                <a:latin typeface="Helvetica Neue" panose="02000503000000020004" pitchFamily="2" charset="0"/>
              </a:rPr>
              <a:t>Adult lays egg on leaf or twig, tree grows shell around it </a:t>
            </a:r>
          </a:p>
          <a:p>
            <a:r>
              <a:rPr lang="en-US" sz="1100">
                <a:solidFill>
                  <a:srgbClr val="FFFFFF"/>
                </a:solidFill>
                <a:effectLst/>
                <a:latin typeface="Helvetica Neue" panose="02000503000000020004" pitchFamily="2" charset="0"/>
              </a:rPr>
              <a:t>Wasp bores its way out when ready to fly off. </a:t>
            </a:r>
          </a:p>
          <a:p>
            <a:r>
              <a:rPr lang="en-US" sz="1100">
                <a:solidFill>
                  <a:srgbClr val="FFFFFF"/>
                </a:solidFill>
                <a:effectLst/>
                <a:latin typeface="Helvetica Neue" panose="02000503000000020004" pitchFamily="2" charset="0"/>
              </a:rPr>
              <a:t>Trees this time of year will begin to host thousands of tiny yellow wasps that are not interested in what we’re up to. I believe they are harmless. </a:t>
            </a:r>
          </a:p>
          <a:p>
            <a:r>
              <a:rPr lang="en-US" sz="1100">
                <a:solidFill>
                  <a:srgbClr val="FFFFFF"/>
                </a:solidFill>
                <a:effectLst/>
                <a:latin typeface="Helvetica Neue" panose="02000503000000020004" pitchFamily="2" charset="0"/>
              </a:rPr>
              <a:t>Galls do not disrupt vascular functions inside twig. </a:t>
            </a:r>
          </a:p>
          <a:p>
            <a:r>
              <a:rPr lang="en-US" sz="1100">
                <a:solidFill>
                  <a:srgbClr val="FFFFFF"/>
                </a:solidFill>
                <a:effectLst/>
                <a:latin typeface="Helvetica Neue" panose="02000503000000020004" pitchFamily="2" charset="0"/>
              </a:rPr>
              <a:t>Found on bur oak and less commonly on Bicolor Oak (swamp white)</a:t>
            </a:r>
          </a:p>
          <a:p>
            <a:r>
              <a:rPr lang="en-US" sz="1100">
                <a:solidFill>
                  <a:srgbClr val="FFFFFF"/>
                </a:solidFill>
                <a:effectLst/>
                <a:latin typeface="Helvetica Neue" panose="02000503000000020004" pitchFamily="2" charset="0"/>
              </a:rPr>
              <a:t>Oak bullet gall can attract other species of wasps and hornets that feed on the nectar these galls produce but they are not being produced by the galls. So you may see yellow jackets for instance on the galls but they are not nests by any means. The other wasp and hornet species are simply feeding on the nectar produced on the exterior of the gall. </a:t>
            </a:r>
          </a:p>
          <a:p>
            <a:r>
              <a:rPr lang="en-US" sz="1100">
                <a:solidFill>
                  <a:srgbClr val="FFFFFF"/>
                </a:solidFill>
                <a:effectLst/>
                <a:latin typeface="Helvetica Neue" panose="02000503000000020004" pitchFamily="2" charset="0"/>
              </a:rPr>
              <a:t>No treatment is necessary for this. If it’s a problem for some home owners it could be treated with a systemic insecticide for the following year. </a:t>
            </a:r>
          </a:p>
          <a:p>
            <a:r>
              <a:rPr lang="en-US" sz="1100">
                <a:solidFill>
                  <a:srgbClr val="FFFFFF"/>
                </a:solidFill>
                <a:effectLst/>
                <a:latin typeface="Helvetica Neue" panose="02000503000000020004" pitchFamily="2" charset="0"/>
              </a:rPr>
              <a:t>Older galls will not fall off after treatment as they are part of the twig but will eventually shed. </a:t>
            </a:r>
          </a:p>
          <a:p>
            <a:endParaRPr lang="en-US" sz="1100">
              <a:solidFill>
                <a:srgbClr val="FFFFFF"/>
              </a:solidFill>
            </a:endParaRPr>
          </a:p>
        </p:txBody>
      </p:sp>
    </p:spTree>
    <p:extLst>
      <p:ext uri="{BB962C8B-B14F-4D97-AF65-F5344CB8AC3E}">
        <p14:creationId xmlns:p14="http://schemas.microsoft.com/office/powerpoint/2010/main" val="1632077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se-up of a plant with brown round objects&#10;&#10;Description automatically generated">
            <a:extLst>
              <a:ext uri="{FF2B5EF4-FFF2-40B4-BE49-F238E27FC236}">
                <a16:creationId xmlns:a16="http://schemas.microsoft.com/office/drawing/2014/main" id="{785160FF-32BF-0B26-17EF-1289C2AE577B}"/>
              </a:ext>
            </a:extLst>
          </p:cNvPr>
          <p:cNvPicPr>
            <a:picLocks noChangeAspect="1"/>
          </p:cNvPicPr>
          <p:nvPr/>
        </p:nvPicPr>
        <p:blipFill>
          <a:blip r:embed="rId2">
            <a:alphaModFix amt="60000"/>
          </a:blip>
          <a:srcRect t="16120" r="1" b="7785"/>
          <a:stretch/>
        </p:blipFill>
        <p:spPr>
          <a:xfrm>
            <a:off x="181899" y="182880"/>
            <a:ext cx="5915025" cy="6499784"/>
          </a:xfrm>
          <a:prstGeom prst="rect">
            <a:avLst/>
          </a:prstGeom>
        </p:spPr>
      </p:pic>
      <p:pic>
        <p:nvPicPr>
          <p:cNvPr id="7" name="Picture 6" descr="Close-up of a plant with many small round green berries&#10;&#10;Description automatically generated">
            <a:extLst>
              <a:ext uri="{FF2B5EF4-FFF2-40B4-BE49-F238E27FC236}">
                <a16:creationId xmlns:a16="http://schemas.microsoft.com/office/drawing/2014/main" id="{CD2A5F42-51A0-7C26-5F44-4331833D2991}"/>
              </a:ext>
            </a:extLst>
          </p:cNvPr>
          <p:cNvPicPr>
            <a:picLocks noChangeAspect="1"/>
          </p:cNvPicPr>
          <p:nvPr/>
        </p:nvPicPr>
        <p:blipFill>
          <a:blip r:embed="rId3">
            <a:alphaModFix amt="60000"/>
          </a:blip>
          <a:srcRect t="13003" r="-1" b="11175"/>
          <a:stretch/>
        </p:blipFill>
        <p:spPr>
          <a:xfrm>
            <a:off x="6095156" y="182880"/>
            <a:ext cx="5915025" cy="6499784"/>
          </a:xfrm>
          <a:prstGeom prst="rect">
            <a:avLst/>
          </a:prstGeom>
        </p:spPr>
      </p:pic>
      <p:sp>
        <p:nvSpPr>
          <p:cNvPr id="2" name="Title 1">
            <a:extLst>
              <a:ext uri="{FF2B5EF4-FFF2-40B4-BE49-F238E27FC236}">
                <a16:creationId xmlns:a16="http://schemas.microsoft.com/office/drawing/2014/main" id="{5C02487D-0EED-64AF-620B-768B49E86D88}"/>
              </a:ext>
            </a:extLst>
          </p:cNvPr>
          <p:cNvSpPr>
            <a:spLocks noGrp="1"/>
          </p:cNvSpPr>
          <p:nvPr>
            <p:ph type="title"/>
          </p:nvPr>
        </p:nvSpPr>
        <p:spPr>
          <a:xfrm>
            <a:off x="844614" y="557189"/>
            <a:ext cx="10509179" cy="2795808"/>
          </a:xfrm>
        </p:spPr>
        <p:txBody>
          <a:bodyPr anchor="b">
            <a:normAutofit/>
          </a:bodyPr>
          <a:lstStyle/>
          <a:p>
            <a:endParaRPr lang="en-US" sz="4000">
              <a:solidFill>
                <a:srgbClr val="FFFFFF"/>
              </a:solidFill>
            </a:endParaRPr>
          </a:p>
        </p:txBody>
      </p:sp>
      <p:sp>
        <p:nvSpPr>
          <p:cNvPr id="11" name="Content Placeholder 10">
            <a:extLst>
              <a:ext uri="{FF2B5EF4-FFF2-40B4-BE49-F238E27FC236}">
                <a16:creationId xmlns:a16="http://schemas.microsoft.com/office/drawing/2014/main" id="{4812A909-60CF-67C0-8FAA-F8512636B925}"/>
              </a:ext>
            </a:extLst>
          </p:cNvPr>
          <p:cNvSpPr>
            <a:spLocks noGrp="1"/>
          </p:cNvSpPr>
          <p:nvPr>
            <p:ph idx="1"/>
          </p:nvPr>
        </p:nvSpPr>
        <p:spPr>
          <a:xfrm>
            <a:off x="844614" y="3526300"/>
            <a:ext cx="10509179" cy="2588458"/>
          </a:xfrm>
        </p:spPr>
        <p:txBody>
          <a:bodyPr>
            <a:normAutofit/>
          </a:bodyPr>
          <a:lstStyle/>
          <a:p>
            <a:endParaRPr lang="en-US" sz="2000">
              <a:solidFill>
                <a:srgbClr val="FFFFFF"/>
              </a:solidFill>
            </a:endParaRPr>
          </a:p>
        </p:txBody>
      </p:sp>
    </p:spTree>
    <p:extLst>
      <p:ext uri="{BB962C8B-B14F-4D97-AF65-F5344CB8AC3E}">
        <p14:creationId xmlns:p14="http://schemas.microsoft.com/office/powerpoint/2010/main" val="856900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close-up of a plant&#10;&#10;Description automatically generated">
            <a:extLst>
              <a:ext uri="{FF2B5EF4-FFF2-40B4-BE49-F238E27FC236}">
                <a16:creationId xmlns:a16="http://schemas.microsoft.com/office/drawing/2014/main" id="{8E92D792-335E-5449-E81F-707F3E9F1509}"/>
              </a:ext>
            </a:extLst>
          </p:cNvPr>
          <p:cNvPicPr>
            <a:picLocks noGrp="1" noChangeAspect="1"/>
          </p:cNvPicPr>
          <p:nvPr>
            <p:ph idx="1"/>
          </p:nvPr>
        </p:nvPicPr>
        <p:blipFill>
          <a:blip r:embed="rId2"/>
          <a:srcRect b="15746"/>
          <a:stretch/>
        </p:blipFill>
        <p:spPr>
          <a:xfrm>
            <a:off x="20" y="1282"/>
            <a:ext cx="12191980" cy="6856718"/>
          </a:xfrm>
          <a:prstGeom prst="rect">
            <a:avLst/>
          </a:prstGeom>
        </p:spPr>
      </p:pic>
    </p:spTree>
    <p:extLst>
      <p:ext uri="{BB962C8B-B14F-4D97-AF65-F5344CB8AC3E}">
        <p14:creationId xmlns:p14="http://schemas.microsoft.com/office/powerpoint/2010/main" val="366692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close-up of a beetle on a plant&#10;&#10;Description automatically generated">
            <a:extLst>
              <a:ext uri="{FF2B5EF4-FFF2-40B4-BE49-F238E27FC236}">
                <a16:creationId xmlns:a16="http://schemas.microsoft.com/office/drawing/2014/main" id="{155CFA50-6030-D777-9A6E-BDADBCC1F9E0}"/>
              </a:ext>
            </a:extLst>
          </p:cNvPr>
          <p:cNvPicPr>
            <a:picLocks noChangeAspect="1"/>
          </p:cNvPicPr>
          <p:nvPr/>
        </p:nvPicPr>
        <p:blipFill>
          <a:blip r:embed="rId2">
            <a:alphaModFix amt="60000"/>
            <a:extLst>
              <a:ext uri="{837473B0-CC2E-450A-ABE3-18F120FF3D39}">
                <a1611:picAttrSrcUrl xmlns:a1611="http://schemas.microsoft.com/office/drawing/2016/11/main" r:id="rId3"/>
              </a:ext>
            </a:extLst>
          </a:blip>
          <a:srcRect t="16407" b="9090"/>
          <a:stretch/>
        </p:blipFill>
        <p:spPr>
          <a:xfrm>
            <a:off x="-1" y="10"/>
            <a:ext cx="12192001" cy="6857990"/>
          </a:xfrm>
          <a:prstGeom prst="rect">
            <a:avLst/>
          </a:prstGeom>
        </p:spPr>
      </p:pic>
      <p:sp>
        <p:nvSpPr>
          <p:cNvPr id="2" name="Title 1">
            <a:extLst>
              <a:ext uri="{FF2B5EF4-FFF2-40B4-BE49-F238E27FC236}">
                <a16:creationId xmlns:a16="http://schemas.microsoft.com/office/drawing/2014/main" id="{773BFF02-E5E1-09C1-FFF3-9B808330BC01}"/>
              </a:ext>
            </a:extLst>
          </p:cNvPr>
          <p:cNvSpPr>
            <a:spLocks noGrp="1"/>
          </p:cNvSpPr>
          <p:nvPr>
            <p:ph type="title"/>
          </p:nvPr>
        </p:nvSpPr>
        <p:spPr>
          <a:xfrm>
            <a:off x="838199" y="1671570"/>
            <a:ext cx="5155261" cy="4072044"/>
          </a:xfrm>
        </p:spPr>
        <p:txBody>
          <a:bodyPr anchor="t">
            <a:normAutofit/>
          </a:bodyPr>
          <a:lstStyle/>
          <a:p>
            <a:r>
              <a:rPr lang="en-US">
                <a:solidFill>
                  <a:srgbClr val="FFFFFF"/>
                </a:solidFill>
                <a:effectLst/>
                <a:latin typeface="Helvetica Neue" panose="02000503000000020004" pitchFamily="2" charset="0"/>
              </a:rPr>
              <a:t>Japanese beetle </a:t>
            </a:r>
            <a:br>
              <a:rPr lang="en-US">
                <a:solidFill>
                  <a:srgbClr val="FFFFFF"/>
                </a:solidFill>
                <a:effectLst/>
                <a:latin typeface="Helvetica Neue" panose="02000503000000020004" pitchFamily="2" charset="0"/>
              </a:rPr>
            </a:br>
            <a:endParaRPr lang="en-US">
              <a:solidFill>
                <a:srgbClr val="FFFFFF"/>
              </a:solidFill>
            </a:endParaRPr>
          </a:p>
        </p:txBody>
      </p:sp>
      <p:sp>
        <p:nvSpPr>
          <p:cNvPr id="3" name="Content Placeholder 2">
            <a:extLst>
              <a:ext uri="{FF2B5EF4-FFF2-40B4-BE49-F238E27FC236}">
                <a16:creationId xmlns:a16="http://schemas.microsoft.com/office/drawing/2014/main" id="{1C95010B-3437-ABF2-A7E6-1A97D45191A3}"/>
              </a:ext>
            </a:extLst>
          </p:cNvPr>
          <p:cNvSpPr>
            <a:spLocks noGrp="1"/>
          </p:cNvSpPr>
          <p:nvPr>
            <p:ph idx="1"/>
          </p:nvPr>
        </p:nvSpPr>
        <p:spPr>
          <a:xfrm>
            <a:off x="6185986" y="1671566"/>
            <a:ext cx="5170861" cy="4072043"/>
          </a:xfrm>
        </p:spPr>
        <p:txBody>
          <a:bodyPr>
            <a:normAutofit/>
          </a:bodyPr>
          <a:lstStyle/>
          <a:p>
            <a:r>
              <a:rPr lang="en-US" sz="1600">
                <a:solidFill>
                  <a:srgbClr val="FFFFFF"/>
                </a:solidFill>
                <a:effectLst/>
                <a:latin typeface="Helvetica Neue" panose="02000503000000020004" pitchFamily="2" charset="0"/>
              </a:rPr>
              <a:t>Feeds on 300+ plant species </a:t>
            </a:r>
          </a:p>
          <a:p>
            <a:r>
              <a:rPr lang="en-US" sz="1600">
                <a:solidFill>
                  <a:srgbClr val="FFFFFF"/>
                </a:solidFill>
                <a:effectLst/>
                <a:latin typeface="Helvetica Neue" panose="02000503000000020004" pitchFamily="2" charset="0"/>
              </a:rPr>
              <a:t>Does not kill trees by itself. </a:t>
            </a:r>
          </a:p>
          <a:p>
            <a:r>
              <a:rPr lang="en-US" sz="1600">
                <a:solidFill>
                  <a:srgbClr val="FFFFFF"/>
                </a:solidFill>
                <a:effectLst/>
                <a:latin typeface="Helvetica Neue" panose="02000503000000020004" pitchFamily="2" charset="0"/>
              </a:rPr>
              <a:t>Perpetual early defoliation can reduce plant vigor. </a:t>
            </a:r>
          </a:p>
          <a:p>
            <a:r>
              <a:rPr lang="en-US" sz="1600">
                <a:solidFill>
                  <a:srgbClr val="FFFFFF"/>
                </a:solidFill>
                <a:effectLst/>
                <a:latin typeface="Helvetica Neue" panose="02000503000000020004" pitchFamily="2" charset="0"/>
              </a:rPr>
              <a:t>Adults feed on foliage and skeletalize leaves. </a:t>
            </a:r>
          </a:p>
          <a:p>
            <a:r>
              <a:rPr lang="en-US" sz="1600">
                <a:solidFill>
                  <a:srgbClr val="FFFFFF"/>
                </a:solidFill>
                <a:effectLst/>
                <a:latin typeface="Helvetica Neue" panose="02000503000000020004" pitchFamily="2" charset="0"/>
              </a:rPr>
              <a:t>Larvae overwinter in the soil and feed on turf root systems in the spring. </a:t>
            </a:r>
          </a:p>
          <a:p>
            <a:r>
              <a:rPr lang="en-US" sz="1600">
                <a:solidFill>
                  <a:srgbClr val="FFFFFF"/>
                </a:solidFill>
                <a:effectLst/>
                <a:latin typeface="Helvetica Neue" panose="02000503000000020004" pitchFamily="2" charset="0"/>
              </a:rPr>
              <a:t>Treatment options include foliar sprays of permethrin during adult feeding seasons as well as soil injected imidacloprid to control grubs. </a:t>
            </a:r>
          </a:p>
          <a:p>
            <a:r>
              <a:rPr lang="en-US" sz="1600">
                <a:solidFill>
                  <a:srgbClr val="FFFFFF"/>
                </a:solidFill>
                <a:effectLst/>
                <a:latin typeface="Helvetica Neue" panose="02000503000000020004" pitchFamily="2" charset="0"/>
              </a:rPr>
              <a:t>Currently and over the next 6 weeks extremely obvious especially in elm birch linden and most rosaceae (apple, crab, cherry, plum) but many tree species are susceptible. Seen frequently on raspberry bushes and vines as well. </a:t>
            </a:r>
          </a:p>
          <a:p>
            <a:endParaRPr lang="en-US" sz="1600">
              <a:solidFill>
                <a:srgbClr val="FFFFFF"/>
              </a:solidFill>
            </a:endParaRPr>
          </a:p>
        </p:txBody>
      </p:sp>
      <p:sp>
        <p:nvSpPr>
          <p:cNvPr id="6" name="TextBox 5">
            <a:extLst>
              <a:ext uri="{FF2B5EF4-FFF2-40B4-BE49-F238E27FC236}">
                <a16:creationId xmlns:a16="http://schemas.microsoft.com/office/drawing/2014/main" id="{6850AAAA-B1B6-E244-50D5-280B09C37899}"/>
              </a:ext>
            </a:extLst>
          </p:cNvPr>
          <p:cNvSpPr txBox="1"/>
          <p:nvPr/>
        </p:nvSpPr>
        <p:spPr>
          <a:xfrm>
            <a:off x="9894576" y="6657945"/>
            <a:ext cx="229742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www.marylandbiodiversity.com/view/1042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882818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a plant with bugs on it&#10;&#10;Description automatically generated">
            <a:extLst>
              <a:ext uri="{FF2B5EF4-FFF2-40B4-BE49-F238E27FC236}">
                <a16:creationId xmlns:a16="http://schemas.microsoft.com/office/drawing/2014/main" id="{53748EAC-80BB-0297-ACE8-B123FABD5344}"/>
              </a:ext>
            </a:extLst>
          </p:cNvPr>
          <p:cNvPicPr>
            <a:picLocks noChangeAspect="1"/>
          </p:cNvPicPr>
          <p:nvPr/>
        </p:nvPicPr>
        <p:blipFill>
          <a:blip r:embed="rId2">
            <a:alphaModFix amt="60000"/>
          </a:blip>
          <a:srcRect l="18571" r="13177"/>
          <a:stretch/>
        </p:blipFill>
        <p:spPr>
          <a:xfrm>
            <a:off x="181899" y="182880"/>
            <a:ext cx="5915025" cy="6499784"/>
          </a:xfrm>
          <a:prstGeom prst="rect">
            <a:avLst/>
          </a:prstGeom>
        </p:spPr>
      </p:pic>
      <p:pic>
        <p:nvPicPr>
          <p:cNvPr id="7" name="Picture 6" descr="A close-up of a beetle on a leaf&#10;&#10;Description automatically generated">
            <a:extLst>
              <a:ext uri="{FF2B5EF4-FFF2-40B4-BE49-F238E27FC236}">
                <a16:creationId xmlns:a16="http://schemas.microsoft.com/office/drawing/2014/main" id="{3803C78D-1A3A-A816-8649-2C263D62E4F4}"/>
              </a:ext>
            </a:extLst>
          </p:cNvPr>
          <p:cNvPicPr>
            <a:picLocks noChangeAspect="1"/>
          </p:cNvPicPr>
          <p:nvPr/>
        </p:nvPicPr>
        <p:blipFill>
          <a:blip r:embed="rId3">
            <a:alphaModFix amt="60000"/>
          </a:blip>
          <a:srcRect l="15911" r="23571" b="-1"/>
          <a:stretch/>
        </p:blipFill>
        <p:spPr>
          <a:xfrm>
            <a:off x="6095156" y="182880"/>
            <a:ext cx="5915025" cy="6499784"/>
          </a:xfrm>
          <a:prstGeom prst="rect">
            <a:avLst/>
          </a:prstGeom>
        </p:spPr>
      </p:pic>
      <p:sp>
        <p:nvSpPr>
          <p:cNvPr id="2" name="Title 1">
            <a:extLst>
              <a:ext uri="{FF2B5EF4-FFF2-40B4-BE49-F238E27FC236}">
                <a16:creationId xmlns:a16="http://schemas.microsoft.com/office/drawing/2014/main" id="{DA0EE1D6-E8E3-A0AE-67B6-BAF3C205A5C6}"/>
              </a:ext>
            </a:extLst>
          </p:cNvPr>
          <p:cNvSpPr>
            <a:spLocks noGrp="1"/>
          </p:cNvSpPr>
          <p:nvPr>
            <p:ph type="title"/>
          </p:nvPr>
        </p:nvSpPr>
        <p:spPr>
          <a:xfrm>
            <a:off x="844614" y="557189"/>
            <a:ext cx="10509179" cy="2795808"/>
          </a:xfrm>
        </p:spPr>
        <p:txBody>
          <a:bodyPr anchor="b">
            <a:normAutofit/>
          </a:bodyPr>
          <a:lstStyle/>
          <a:p>
            <a:endParaRPr lang="en-US" sz="4000">
              <a:solidFill>
                <a:srgbClr val="FFFFFF"/>
              </a:solidFill>
            </a:endParaRPr>
          </a:p>
        </p:txBody>
      </p:sp>
      <p:sp>
        <p:nvSpPr>
          <p:cNvPr id="11" name="Content Placeholder 10">
            <a:extLst>
              <a:ext uri="{FF2B5EF4-FFF2-40B4-BE49-F238E27FC236}">
                <a16:creationId xmlns:a16="http://schemas.microsoft.com/office/drawing/2014/main" id="{3E1AB338-946A-EDD2-C659-C854511E3828}"/>
              </a:ext>
            </a:extLst>
          </p:cNvPr>
          <p:cNvSpPr>
            <a:spLocks noGrp="1"/>
          </p:cNvSpPr>
          <p:nvPr>
            <p:ph idx="1"/>
          </p:nvPr>
        </p:nvSpPr>
        <p:spPr>
          <a:xfrm>
            <a:off x="844614" y="3526300"/>
            <a:ext cx="10509179" cy="2588458"/>
          </a:xfrm>
        </p:spPr>
        <p:txBody>
          <a:bodyPr>
            <a:normAutofit/>
          </a:bodyPr>
          <a:lstStyle/>
          <a:p>
            <a:endParaRPr lang="en-US" sz="2000">
              <a:solidFill>
                <a:srgbClr val="FFFFFF"/>
              </a:solidFill>
            </a:endParaRPr>
          </a:p>
        </p:txBody>
      </p:sp>
    </p:spTree>
    <p:extLst>
      <p:ext uri="{BB962C8B-B14F-4D97-AF65-F5344CB8AC3E}">
        <p14:creationId xmlns:p14="http://schemas.microsoft.com/office/powerpoint/2010/main" val="47875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tree trunk and potted flowers on a deck&#10;&#10;Description automatically generated">
            <a:extLst>
              <a:ext uri="{FF2B5EF4-FFF2-40B4-BE49-F238E27FC236}">
                <a16:creationId xmlns:a16="http://schemas.microsoft.com/office/drawing/2014/main" id="{61F767E7-379C-CC1B-353C-D0BE4F45CD9E}"/>
              </a:ext>
            </a:extLst>
          </p:cNvPr>
          <p:cNvPicPr>
            <a:picLocks noGrp="1" noChangeAspect="1"/>
          </p:cNvPicPr>
          <p:nvPr>
            <p:ph idx="1"/>
          </p:nvPr>
        </p:nvPicPr>
        <p:blipFill>
          <a:blip r:embed="rId2">
            <a:alphaModFix/>
          </a:blip>
          <a:srcRect t="20423" b="39686"/>
          <a:stretch/>
        </p:blipFill>
        <p:spPr>
          <a:xfrm>
            <a:off x="4283902" y="10"/>
            <a:ext cx="7908098" cy="6857992"/>
          </a:xfrm>
          <a:prstGeom prst="rect">
            <a:avLst/>
          </a:prstGeom>
        </p:spPr>
      </p:pic>
      <p:sp>
        <p:nvSpPr>
          <p:cNvPr id="2" name="Title 1">
            <a:extLst>
              <a:ext uri="{FF2B5EF4-FFF2-40B4-BE49-F238E27FC236}">
                <a16:creationId xmlns:a16="http://schemas.microsoft.com/office/drawing/2014/main" id="{44B2A2EA-BED5-A47D-BE88-960127E74708}"/>
              </a:ext>
            </a:extLst>
          </p:cNvPr>
          <p:cNvSpPr>
            <a:spLocks noGrp="1"/>
          </p:cNvSpPr>
          <p:nvPr>
            <p:ph type="title"/>
          </p:nvPr>
        </p:nvSpPr>
        <p:spPr>
          <a:xfrm>
            <a:off x="728663" y="1115219"/>
            <a:ext cx="5505449" cy="2387600"/>
          </a:xfrm>
        </p:spPr>
        <p:txBody>
          <a:bodyPr vert="horz" lIns="91440" tIns="45720" rIns="91440" bIns="45720" rtlCol="0" anchor="b">
            <a:normAutofit/>
          </a:bodyPr>
          <a:lstStyle/>
          <a:p>
            <a:r>
              <a:rPr lang="en-US" sz="3100">
                <a:solidFill>
                  <a:schemeClr val="bg1"/>
                </a:solidFill>
              </a:rPr>
              <a:t>Random PPM subjects worth mention:</a:t>
            </a:r>
            <a:br>
              <a:rPr lang="en-US" sz="3100">
                <a:solidFill>
                  <a:schemeClr val="bg1"/>
                </a:solidFill>
              </a:rPr>
            </a:br>
            <a:r>
              <a:rPr lang="en-US" sz="3100">
                <a:solidFill>
                  <a:schemeClr val="bg1"/>
                </a:solidFill>
              </a:rPr>
              <a:t>How do we treat or fertilize trees beneath structures like a deck?</a:t>
            </a:r>
          </a:p>
        </p:txBody>
      </p:sp>
      <p:cxnSp>
        <p:nvCxnSpPr>
          <p:cNvPr id="23" name="Straight Connector 22">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474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72A8AAA-5A8B-BBA2-15FE-87C1F662FB62}"/>
              </a:ext>
            </a:extLst>
          </p:cNvPr>
          <p:cNvSpPr>
            <a:spLocks noGrp="1"/>
          </p:cNvSpPr>
          <p:nvPr>
            <p:ph type="title"/>
          </p:nvPr>
        </p:nvSpPr>
        <p:spPr>
          <a:xfrm>
            <a:off x="1014141" y="1450655"/>
            <a:ext cx="3932030" cy="3956690"/>
          </a:xfrm>
        </p:spPr>
        <p:txBody>
          <a:bodyPr anchor="ctr">
            <a:normAutofit/>
          </a:bodyPr>
          <a:lstStyle/>
          <a:p>
            <a:r>
              <a:rPr lang="en-US" sz="3800">
                <a:solidFill>
                  <a:schemeClr val="bg1"/>
                </a:solidFill>
              </a:rPr>
              <a:t>Fertilizing/Injecting under structure</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21487B-5D98-3754-33D7-D21442F71342}"/>
              </a:ext>
            </a:extLst>
          </p:cNvPr>
          <p:cNvSpPr>
            <a:spLocks noGrp="1"/>
          </p:cNvSpPr>
          <p:nvPr>
            <p:ph idx="1"/>
          </p:nvPr>
        </p:nvSpPr>
        <p:spPr>
          <a:xfrm>
            <a:off x="6096000" y="1108061"/>
            <a:ext cx="5008901" cy="4571972"/>
          </a:xfrm>
        </p:spPr>
        <p:txBody>
          <a:bodyPr anchor="ctr">
            <a:normAutofit/>
          </a:bodyPr>
          <a:lstStyle/>
          <a:p>
            <a:r>
              <a:rPr lang="en-US" sz="1700">
                <a:solidFill>
                  <a:schemeClr val="bg1"/>
                </a:solidFill>
              </a:rPr>
              <a:t>Trunk injections: MN Jet</a:t>
            </a:r>
          </a:p>
          <a:p>
            <a:r>
              <a:rPr lang="en-US" sz="1700">
                <a:solidFill>
                  <a:schemeClr val="bg1"/>
                </a:solidFill>
              </a:rPr>
              <a:t>Soil drench alternative for macros</a:t>
            </a:r>
          </a:p>
          <a:p>
            <a:r>
              <a:rPr lang="en-US" sz="1700">
                <a:solidFill>
                  <a:schemeClr val="bg1"/>
                </a:solidFill>
              </a:rPr>
              <a:t>Runoff important to control</a:t>
            </a:r>
          </a:p>
          <a:p>
            <a:r>
              <a:rPr lang="en-US" sz="1700">
                <a:solidFill>
                  <a:schemeClr val="bg1"/>
                </a:solidFill>
              </a:rPr>
              <a:t>DED: Inject higher? This approach is better than not at all</a:t>
            </a:r>
          </a:p>
          <a:p>
            <a:r>
              <a:rPr lang="en-US" sz="1700">
                <a:solidFill>
                  <a:schemeClr val="bg1"/>
                </a:solidFill>
              </a:rPr>
              <a:t>Soil probe not necessary to provide fertility in absence of competitive vegetation.</a:t>
            </a:r>
          </a:p>
          <a:p>
            <a:r>
              <a:rPr lang="en-US" sz="1700">
                <a:solidFill>
                  <a:schemeClr val="bg1"/>
                </a:solidFill>
              </a:rPr>
              <a:t>Spring/Summer/Fall as well as Root Developer labelled for soil drench</a:t>
            </a:r>
          </a:p>
          <a:p>
            <a:r>
              <a:rPr lang="en-US" sz="1700">
                <a:solidFill>
                  <a:schemeClr val="bg1"/>
                </a:solidFill>
              </a:rPr>
              <a:t>Potential draw backs: Soil drench in someone’s front yard may disfigure or burn turf.  </a:t>
            </a:r>
          </a:p>
          <a:p>
            <a:r>
              <a:rPr lang="en-US" sz="1700">
                <a:solidFill>
                  <a:schemeClr val="bg1"/>
                </a:solidFill>
              </a:rPr>
              <a:t>Fantastic alternative if irrigation system is in lawn or locations unknown. Wait for chemical to soak into turf and water in to penetrate root system.</a:t>
            </a:r>
          </a:p>
          <a:p>
            <a:pPr marL="0" indent="0">
              <a:buNone/>
            </a:pPr>
            <a:endParaRPr lang="en-US" sz="1700">
              <a:solidFill>
                <a:schemeClr val="bg1"/>
              </a:solidFill>
            </a:endParaRPr>
          </a:p>
        </p:txBody>
      </p:sp>
    </p:spTree>
    <p:extLst>
      <p:ext uri="{BB962C8B-B14F-4D97-AF65-F5344CB8AC3E}">
        <p14:creationId xmlns:p14="http://schemas.microsoft.com/office/powerpoint/2010/main" val="2106156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0894D539200844BFE0E0554F421699" ma:contentTypeVersion="15" ma:contentTypeDescription="Create a new document." ma:contentTypeScope="" ma:versionID="db59c7a491a744ec2d54642538edbea0">
  <xsd:schema xmlns:xsd="http://www.w3.org/2001/XMLSchema" xmlns:xs="http://www.w3.org/2001/XMLSchema" xmlns:p="http://schemas.microsoft.com/office/2006/metadata/properties" xmlns:ns2="7f1b0a71-6fb2-4853-acf8-7ede476f1787" xmlns:ns3="700175d4-e065-4959-822d-e9b710e13b88" targetNamespace="http://schemas.microsoft.com/office/2006/metadata/properties" ma:root="true" ma:fieldsID="c212832851e7215a045c87fcf889afde" ns2:_="" ns3:_="">
    <xsd:import namespace="7f1b0a71-6fb2-4853-acf8-7ede476f1787"/>
    <xsd:import namespace="700175d4-e065-4959-822d-e9b710e13b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ServiceDateTaken" minOccurs="0"/>
                <xsd:element ref="ns3:MediaServiceLocation"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1b0a71-6fb2-4853-acf8-7ede476f17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b261dfc9-31a6-4084-8878-0c8c0a4def98}" ma:internalName="TaxCatchAll" ma:showField="CatchAllData" ma:web="7f1b0a71-6fb2-4853-acf8-7ede476f17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00175d4-e065-4959-822d-e9b710e13b8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0a1a12f-0bf3-4877-a088-8da4a3ccdf7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f1b0a71-6fb2-4853-acf8-7ede476f1787" xsi:nil="true"/>
    <lcf76f155ced4ddcb4097134ff3c332f xmlns="700175d4-e065-4959-822d-e9b710e13b8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0A6BBC-04BF-4AD7-8FA3-556C569977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1b0a71-6fb2-4853-acf8-7ede476f1787"/>
    <ds:schemaRef ds:uri="700175d4-e065-4959-822d-e9b710e13b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EBD937-CE53-43ED-B035-65DE10107718}">
  <ds:schemaRefs>
    <ds:schemaRef ds:uri="http://schemas.microsoft.com/office/infopath/2007/PartnerControls"/>
    <ds:schemaRef ds:uri="http://schemas.microsoft.com/office/2006/documentManagement/types"/>
    <ds:schemaRef ds:uri="7f1b0a71-6fb2-4853-acf8-7ede476f1787"/>
    <ds:schemaRef ds:uri="http://schemas.microsoft.com/office/2006/metadata/properties"/>
    <ds:schemaRef ds:uri="http://schemas.openxmlformats.org/package/2006/metadata/core-properties"/>
    <ds:schemaRef ds:uri="http://www.w3.org/XML/1998/namespace"/>
    <ds:schemaRef ds:uri="http://purl.org/dc/elements/1.1/"/>
    <ds:schemaRef ds:uri="700175d4-e065-4959-822d-e9b710e13b88"/>
    <ds:schemaRef ds:uri="http://purl.org/dc/dcmitype/"/>
    <ds:schemaRef ds:uri="http://purl.org/dc/terms/"/>
  </ds:schemaRefs>
</ds:datastoreItem>
</file>

<file path=customXml/itemProps3.xml><?xml version="1.0" encoding="utf-8"?>
<ds:datastoreItem xmlns:ds="http://schemas.openxmlformats.org/officeDocument/2006/customXml" ds:itemID="{9B4F1CAF-8A03-4D31-A86F-039CC4C9B9A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TotalTime>
  <Words>600</Words>
  <Application>Microsoft Macintosh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Helvetica Neue</vt:lpstr>
      <vt:lpstr>Office Theme</vt:lpstr>
      <vt:lpstr>PPM 080424 Oak Cynipidae Pine Brown Spot Needle Blight</vt:lpstr>
      <vt:lpstr>Brown spot needle blight </vt:lpstr>
      <vt:lpstr>PowerPoint Presentation</vt:lpstr>
      <vt:lpstr>Jumping oak gall Neuroterus saltatorius </vt:lpstr>
      <vt:lpstr>PowerPoint Presentation</vt:lpstr>
      <vt:lpstr>Oak bullet gall Disholcaspis quercusmamma </vt:lpstr>
      <vt:lpstr>PowerPoint Presentation</vt:lpstr>
      <vt:lpstr>PowerPoint Presentation</vt:lpstr>
      <vt:lpstr>Japanese beetle  </vt:lpstr>
      <vt:lpstr>PowerPoint Presentation</vt:lpstr>
      <vt:lpstr>Random PPM subjects worth mention: How do we treat or fertilize trees beneath structures like a deck?</vt:lpstr>
      <vt:lpstr>Fertilizing/Injecting under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Connor Walsh</dc:creator>
  <cp:lastModifiedBy>Connor Walsh</cp:lastModifiedBy>
  <cp:revision>1</cp:revision>
  <dcterms:created xsi:type="dcterms:W3CDTF">2024-08-04T23:57:09Z</dcterms:created>
  <dcterms:modified xsi:type="dcterms:W3CDTF">2024-12-16T01:06:44Z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0x010100D20894D539200844BFE0E0554F421699</vt:lpwstr>
  </property>
  <property fmtid="{D5CDD505-2E9C-101B-9397-08002B2CF9AE}" pid="3" name="MediaServiceImageTags">
    <vt:lpwstr/>
  </property>
</Properties>
</file>